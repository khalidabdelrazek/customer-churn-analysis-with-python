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Times New Roman MT" panose="020B0604020202020204" charset="0"/>
      <p:regular r:id="rId11"/>
    </p:embeddedFont>
    <p:embeddedFont>
      <p:font typeface="Times New Roman MT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47886" y="4125814"/>
            <a:ext cx="7904112" cy="104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Times New Roman MT Bold"/>
                <a:ea typeface="Times New Roman MT Bold"/>
                <a:cs typeface="Times New Roman" panose="02020603050405020304" pitchFamily="18" charset="0"/>
                <a:sym typeface="Times New Roman MT Bold"/>
              </a:rPr>
              <a:t>Customer Churn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886" y="5460950"/>
            <a:ext cx="9534228" cy="54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Times New Roman MT"/>
                <a:ea typeface="Times New Roman MT"/>
                <a:cs typeface="Times New Roman" panose="02020603050405020304" pitchFamily="18" charset="0"/>
                <a:sym typeface="Times New Roman MT"/>
              </a:rPr>
              <a:t>A Data Analytics Project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33041" y="0"/>
            <a:ext cx="8054959" cy="10287000"/>
            <a:chOff x="0" y="0"/>
            <a:chExt cx="10739945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39882" cy="13716000"/>
            </a:xfrm>
            <a:custGeom>
              <a:avLst/>
              <a:gdLst/>
              <a:ahLst/>
              <a:cxnLst/>
              <a:rect l="l" t="t" r="r" b="b"/>
              <a:pathLst>
                <a:path w="10739882" h="13716000">
                  <a:moveTo>
                    <a:pt x="0" y="0"/>
                  </a:moveTo>
                  <a:lnTo>
                    <a:pt x="10739882" y="0"/>
                  </a:lnTo>
                  <a:lnTo>
                    <a:pt x="1073988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855" r="-138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47886" y="779561"/>
            <a:ext cx="5535216" cy="1169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825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Introduction: Project Goals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47886" y="2179885"/>
            <a:ext cx="7981355" cy="1382018"/>
            <a:chOff x="0" y="0"/>
            <a:chExt cx="10641807" cy="1842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41838" cy="1842643"/>
            </a:xfrm>
            <a:custGeom>
              <a:avLst/>
              <a:gdLst/>
              <a:ahLst/>
              <a:cxnLst/>
              <a:rect l="l" t="t" r="r" b="b"/>
              <a:pathLst>
                <a:path w="10641838" h="1842643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519918" y="0"/>
                  </a:lnTo>
                  <a:cubicBezTo>
                    <a:pt x="10587228" y="0"/>
                    <a:pt x="10641838" y="54610"/>
                    <a:pt x="10641838" y="121920"/>
                  </a:cubicBezTo>
                  <a:lnTo>
                    <a:pt x="10641838" y="1720723"/>
                  </a:lnTo>
                  <a:cubicBezTo>
                    <a:pt x="10641838" y="1788033"/>
                    <a:pt x="10587228" y="1842643"/>
                    <a:pt x="10519918" y="1842643"/>
                  </a:cubicBezTo>
                  <a:lnTo>
                    <a:pt x="121920" y="1842643"/>
                  </a:lnTo>
                  <a:cubicBezTo>
                    <a:pt x="54610" y="1842643"/>
                    <a:pt x="0" y="1788033"/>
                    <a:pt x="0" y="172072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7886" y="2160835"/>
            <a:ext cx="7981355" cy="76200"/>
            <a:chOff x="0" y="0"/>
            <a:chExt cx="10641807" cy="10160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0641838" cy="101600"/>
            </a:xfrm>
            <a:custGeom>
              <a:avLst/>
              <a:gdLst/>
              <a:ahLst/>
              <a:cxnLst/>
              <a:rect l="l" t="t" r="r" b="b"/>
              <a:pathLst>
                <a:path w="10641838" h="101600">
                  <a:moveTo>
                    <a:pt x="0" y="0"/>
                  </a:moveTo>
                  <a:lnTo>
                    <a:pt x="10641838" y="0"/>
                  </a:lnTo>
                  <a:lnTo>
                    <a:pt x="10641838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" r="-3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74542" y="1915865"/>
            <a:ext cx="528043" cy="528043"/>
            <a:chOff x="0" y="0"/>
            <a:chExt cx="704057" cy="704057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704088" cy="704088"/>
            </a:xfrm>
            <a:custGeom>
              <a:avLst/>
              <a:gdLst/>
              <a:ahLst/>
              <a:cxnLst/>
              <a:rect l="l" t="t" r="r" b="b"/>
              <a:pathLst>
                <a:path w="704088" h="704088">
                  <a:moveTo>
                    <a:pt x="0" y="0"/>
                  </a:moveTo>
                  <a:lnTo>
                    <a:pt x="704088" y="0"/>
                  </a:lnTo>
                  <a:lnTo>
                    <a:pt x="704088" y="704088"/>
                  </a:lnTo>
                  <a:lnTo>
                    <a:pt x="0" y="704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4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832896" y="2047875"/>
            <a:ext cx="211188" cy="264021"/>
            <a:chOff x="0" y="0"/>
            <a:chExt cx="281583" cy="352028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281559" cy="352044"/>
            </a:xfrm>
            <a:custGeom>
              <a:avLst/>
              <a:gdLst/>
              <a:ahLst/>
              <a:cxnLst/>
              <a:rect l="l" t="t" r="r" b="b"/>
              <a:pathLst>
                <a:path w="281559" h="352044">
                  <a:moveTo>
                    <a:pt x="0" y="0"/>
                  </a:moveTo>
                  <a:lnTo>
                    <a:pt x="281559" y="0"/>
                  </a:lnTo>
                  <a:lnTo>
                    <a:pt x="281559" y="352044"/>
                  </a:lnTo>
                  <a:lnTo>
                    <a:pt x="0" y="352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01" r="-8" b="-897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42850" y="2572345"/>
            <a:ext cx="2590949" cy="30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012" b="1" dirty="0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Understand Behavior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2851" y="2990106"/>
            <a:ext cx="7591425" cy="28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57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Examine customer actions and patterns.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47886" y="4001840"/>
            <a:ext cx="7981355" cy="1382018"/>
            <a:chOff x="0" y="0"/>
            <a:chExt cx="10641807" cy="18426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41838" cy="1842643"/>
            </a:xfrm>
            <a:custGeom>
              <a:avLst/>
              <a:gdLst/>
              <a:ahLst/>
              <a:cxnLst/>
              <a:rect l="l" t="t" r="r" b="b"/>
              <a:pathLst>
                <a:path w="10641838" h="1842643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519918" y="0"/>
                  </a:lnTo>
                  <a:cubicBezTo>
                    <a:pt x="10587228" y="0"/>
                    <a:pt x="10641838" y="54610"/>
                    <a:pt x="10641838" y="121920"/>
                  </a:cubicBezTo>
                  <a:lnTo>
                    <a:pt x="10641838" y="1720723"/>
                  </a:lnTo>
                  <a:cubicBezTo>
                    <a:pt x="10641838" y="1788033"/>
                    <a:pt x="10587228" y="1842643"/>
                    <a:pt x="10519918" y="1842643"/>
                  </a:cubicBezTo>
                  <a:lnTo>
                    <a:pt x="121920" y="1842643"/>
                  </a:lnTo>
                  <a:cubicBezTo>
                    <a:pt x="54610" y="1842643"/>
                    <a:pt x="0" y="1788033"/>
                    <a:pt x="0" y="172072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7886" y="3982790"/>
            <a:ext cx="7981355" cy="76200"/>
            <a:chOff x="0" y="0"/>
            <a:chExt cx="10641807" cy="10160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0641838" cy="101600"/>
            </a:xfrm>
            <a:custGeom>
              <a:avLst/>
              <a:gdLst/>
              <a:ahLst/>
              <a:cxnLst/>
              <a:rect l="l" t="t" r="r" b="b"/>
              <a:pathLst>
                <a:path w="10641838" h="101600">
                  <a:moveTo>
                    <a:pt x="0" y="0"/>
                  </a:moveTo>
                  <a:lnTo>
                    <a:pt x="10641838" y="0"/>
                  </a:lnTo>
                  <a:lnTo>
                    <a:pt x="10641838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" r="-3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674542" y="3737819"/>
            <a:ext cx="528043" cy="528042"/>
            <a:chOff x="0" y="0"/>
            <a:chExt cx="704057" cy="704057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704088" cy="704088"/>
            </a:xfrm>
            <a:custGeom>
              <a:avLst/>
              <a:gdLst/>
              <a:ahLst/>
              <a:cxnLst/>
              <a:rect l="l" t="t" r="r" b="b"/>
              <a:pathLst>
                <a:path w="704088" h="704088">
                  <a:moveTo>
                    <a:pt x="0" y="0"/>
                  </a:moveTo>
                  <a:lnTo>
                    <a:pt x="704088" y="0"/>
                  </a:lnTo>
                  <a:lnTo>
                    <a:pt x="704088" y="704088"/>
                  </a:lnTo>
                  <a:lnTo>
                    <a:pt x="0" y="704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4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832896" y="3869829"/>
            <a:ext cx="211188" cy="264021"/>
            <a:chOff x="0" y="0"/>
            <a:chExt cx="281583" cy="352028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281559" cy="352044"/>
            </a:xfrm>
            <a:custGeom>
              <a:avLst/>
              <a:gdLst/>
              <a:ahLst/>
              <a:cxnLst/>
              <a:rect l="l" t="t" r="r" b="b"/>
              <a:pathLst>
                <a:path w="281559" h="352044">
                  <a:moveTo>
                    <a:pt x="0" y="0"/>
                  </a:moveTo>
                  <a:lnTo>
                    <a:pt x="281559" y="0"/>
                  </a:lnTo>
                  <a:lnTo>
                    <a:pt x="281559" y="352044"/>
                  </a:lnTo>
                  <a:lnTo>
                    <a:pt x="0" y="352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901" r="-8" b="-897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42851" y="4394299"/>
            <a:ext cx="2316212" cy="30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012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Identify Drivers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2851" y="4812060"/>
            <a:ext cx="7591425" cy="28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57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Pinpoint key factors leading to churn.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47886" y="5823794"/>
            <a:ext cx="7981355" cy="1382017"/>
            <a:chOff x="0" y="0"/>
            <a:chExt cx="10641807" cy="184269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641838" cy="1842643"/>
            </a:xfrm>
            <a:custGeom>
              <a:avLst/>
              <a:gdLst/>
              <a:ahLst/>
              <a:cxnLst/>
              <a:rect l="l" t="t" r="r" b="b"/>
              <a:pathLst>
                <a:path w="10641838" h="1842643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519918" y="0"/>
                  </a:lnTo>
                  <a:cubicBezTo>
                    <a:pt x="10587228" y="0"/>
                    <a:pt x="10641838" y="54610"/>
                    <a:pt x="10641838" y="121920"/>
                  </a:cubicBezTo>
                  <a:lnTo>
                    <a:pt x="10641838" y="1720723"/>
                  </a:lnTo>
                  <a:cubicBezTo>
                    <a:pt x="10641838" y="1788033"/>
                    <a:pt x="10587228" y="1842643"/>
                    <a:pt x="10519918" y="1842643"/>
                  </a:cubicBezTo>
                  <a:lnTo>
                    <a:pt x="121920" y="1842643"/>
                  </a:lnTo>
                  <a:cubicBezTo>
                    <a:pt x="54610" y="1842643"/>
                    <a:pt x="0" y="1788033"/>
                    <a:pt x="0" y="172072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7886" y="5804744"/>
            <a:ext cx="7981355" cy="76200"/>
            <a:chOff x="0" y="0"/>
            <a:chExt cx="10641807" cy="101600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10641838" cy="101600"/>
            </a:xfrm>
            <a:custGeom>
              <a:avLst/>
              <a:gdLst/>
              <a:ahLst/>
              <a:cxnLst/>
              <a:rect l="l" t="t" r="r" b="b"/>
              <a:pathLst>
                <a:path w="10641838" h="101600">
                  <a:moveTo>
                    <a:pt x="0" y="0"/>
                  </a:moveTo>
                  <a:lnTo>
                    <a:pt x="10641838" y="0"/>
                  </a:lnTo>
                  <a:lnTo>
                    <a:pt x="10641838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" r="-3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674542" y="5559772"/>
            <a:ext cx="528043" cy="528042"/>
            <a:chOff x="0" y="0"/>
            <a:chExt cx="704057" cy="704057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704088" cy="704088"/>
            </a:xfrm>
            <a:custGeom>
              <a:avLst/>
              <a:gdLst/>
              <a:ahLst/>
              <a:cxnLst/>
              <a:rect l="l" t="t" r="r" b="b"/>
              <a:pathLst>
                <a:path w="704088" h="704088">
                  <a:moveTo>
                    <a:pt x="0" y="0"/>
                  </a:moveTo>
                  <a:lnTo>
                    <a:pt x="704088" y="0"/>
                  </a:lnTo>
                  <a:lnTo>
                    <a:pt x="704088" y="704088"/>
                  </a:lnTo>
                  <a:lnTo>
                    <a:pt x="0" y="704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4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832896" y="5691782"/>
            <a:ext cx="211188" cy="264021"/>
            <a:chOff x="0" y="0"/>
            <a:chExt cx="281583" cy="352028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281559" cy="352044"/>
            </a:xfrm>
            <a:custGeom>
              <a:avLst/>
              <a:gdLst/>
              <a:ahLst/>
              <a:cxnLst/>
              <a:rect l="l" t="t" r="r" b="b"/>
              <a:pathLst>
                <a:path w="281559" h="352044">
                  <a:moveTo>
                    <a:pt x="0" y="0"/>
                  </a:moveTo>
                  <a:lnTo>
                    <a:pt x="281559" y="0"/>
                  </a:lnTo>
                  <a:lnTo>
                    <a:pt x="281559" y="352044"/>
                  </a:lnTo>
                  <a:lnTo>
                    <a:pt x="0" y="352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901" r="-8" b="-897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42851" y="6216254"/>
            <a:ext cx="2316212" cy="30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012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Actionable Insights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2851" y="6634014"/>
            <a:ext cx="7591425" cy="28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57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Develop strategies for customer retention.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283851" y="1915865"/>
            <a:ext cx="4150221" cy="4150221"/>
            <a:chOff x="0" y="0"/>
            <a:chExt cx="5533628" cy="5533628"/>
          </a:xfrm>
        </p:grpSpPr>
        <p:sp>
          <p:nvSpPr>
            <p:cNvPr id="38" name="Freeform 38" descr="preencoded.png"/>
            <p:cNvSpPr/>
            <p:nvPr/>
          </p:nvSpPr>
          <p:spPr>
            <a:xfrm>
              <a:off x="0" y="0"/>
              <a:ext cx="5533644" cy="5533644"/>
            </a:xfrm>
            <a:custGeom>
              <a:avLst/>
              <a:gdLst/>
              <a:ahLst/>
              <a:cxnLst/>
              <a:rect l="l" t="t" r="r" b="b"/>
              <a:pathLst>
                <a:path w="5533644" h="5533644">
                  <a:moveTo>
                    <a:pt x="0" y="0"/>
                  </a:moveTo>
                  <a:lnTo>
                    <a:pt x="5533644" y="0"/>
                  </a:lnTo>
                  <a:lnTo>
                    <a:pt x="5533644" y="5533644"/>
                  </a:lnTo>
                  <a:lnTo>
                    <a:pt x="0" y="5533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796340" y="3576414"/>
            <a:ext cx="263278" cy="329208"/>
            <a:chOff x="0" y="0"/>
            <a:chExt cx="351037" cy="438943"/>
          </a:xfrm>
        </p:grpSpPr>
        <p:sp>
          <p:nvSpPr>
            <p:cNvPr id="40" name="Freeform 40" descr="preencoded.png"/>
            <p:cNvSpPr/>
            <p:nvPr/>
          </p:nvSpPr>
          <p:spPr>
            <a:xfrm>
              <a:off x="0" y="0"/>
              <a:ext cx="351028" cy="438912"/>
            </a:xfrm>
            <a:custGeom>
              <a:avLst/>
              <a:gdLst/>
              <a:ahLst/>
              <a:cxnLst/>
              <a:rect l="l" t="t" r="r" b="b"/>
              <a:pathLst>
                <a:path w="351028" h="438912">
                  <a:moveTo>
                    <a:pt x="0" y="0"/>
                  </a:moveTo>
                  <a:lnTo>
                    <a:pt x="351028" y="0"/>
                  </a:lnTo>
                  <a:lnTo>
                    <a:pt x="351028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6" r="-19" b="-7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363521" y="6325344"/>
            <a:ext cx="361504" cy="361504"/>
            <a:chOff x="0" y="0"/>
            <a:chExt cx="482005" cy="482005"/>
          </a:xfrm>
        </p:grpSpPr>
        <p:sp>
          <p:nvSpPr>
            <p:cNvPr id="42" name="Freeform 42"/>
            <p:cNvSpPr/>
            <p:nvPr/>
          </p:nvSpPr>
          <p:spPr>
            <a:xfrm>
              <a:off x="6350" y="6350"/>
              <a:ext cx="469265" cy="469265"/>
            </a:xfrm>
            <a:custGeom>
              <a:avLst/>
              <a:gdLst/>
              <a:ahLst/>
              <a:cxnLst/>
              <a:rect l="l" t="t" r="r" b="b"/>
              <a:pathLst>
                <a:path w="469265" h="469265">
                  <a:moveTo>
                    <a:pt x="0" y="234696"/>
                  </a:moveTo>
                  <a:cubicBezTo>
                    <a:pt x="0" y="105029"/>
                    <a:pt x="105029" y="0"/>
                    <a:pt x="234696" y="0"/>
                  </a:cubicBezTo>
                  <a:cubicBezTo>
                    <a:pt x="364363" y="0"/>
                    <a:pt x="469265" y="105029"/>
                    <a:pt x="469265" y="234696"/>
                  </a:cubicBezTo>
                  <a:cubicBezTo>
                    <a:pt x="469265" y="364363"/>
                    <a:pt x="364236" y="469265"/>
                    <a:pt x="234696" y="469265"/>
                  </a:cubicBezTo>
                  <a:cubicBezTo>
                    <a:pt x="105156" y="469265"/>
                    <a:pt x="0" y="364236"/>
                    <a:pt x="0" y="234696"/>
                  </a:cubicBezTo>
                  <a:close/>
                </a:path>
              </a:pathLst>
            </a:custGeom>
            <a:solidFill>
              <a:srgbClr val="D4E9F7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481965" cy="482092"/>
            </a:xfrm>
            <a:custGeom>
              <a:avLst/>
              <a:gdLst/>
              <a:ahLst/>
              <a:cxnLst/>
              <a:rect l="l" t="t" r="r" b="b"/>
              <a:pathLst>
                <a:path w="481965" h="482092">
                  <a:moveTo>
                    <a:pt x="0" y="241046"/>
                  </a:moveTo>
                  <a:cubicBezTo>
                    <a:pt x="0" y="107950"/>
                    <a:pt x="107950" y="0"/>
                    <a:pt x="241046" y="0"/>
                  </a:cubicBezTo>
                  <a:cubicBezTo>
                    <a:pt x="242189" y="0"/>
                    <a:pt x="243459" y="381"/>
                    <a:pt x="244348" y="1016"/>
                  </a:cubicBezTo>
                  <a:lnTo>
                    <a:pt x="241046" y="6350"/>
                  </a:lnTo>
                  <a:lnTo>
                    <a:pt x="241046" y="0"/>
                  </a:lnTo>
                  <a:lnTo>
                    <a:pt x="241046" y="6350"/>
                  </a:lnTo>
                  <a:lnTo>
                    <a:pt x="241046" y="0"/>
                  </a:lnTo>
                  <a:cubicBezTo>
                    <a:pt x="374142" y="0"/>
                    <a:pt x="481965" y="107950"/>
                    <a:pt x="481965" y="241046"/>
                  </a:cubicBezTo>
                  <a:cubicBezTo>
                    <a:pt x="481965" y="243967"/>
                    <a:pt x="479933" y="246507"/>
                    <a:pt x="477139" y="247269"/>
                  </a:cubicBezTo>
                  <a:lnTo>
                    <a:pt x="475615" y="241046"/>
                  </a:lnTo>
                  <a:lnTo>
                    <a:pt x="481965" y="241046"/>
                  </a:lnTo>
                  <a:cubicBezTo>
                    <a:pt x="481965" y="374142"/>
                    <a:pt x="374015" y="482092"/>
                    <a:pt x="240919" y="482092"/>
                  </a:cubicBezTo>
                  <a:lnTo>
                    <a:pt x="240919" y="475742"/>
                  </a:lnTo>
                  <a:lnTo>
                    <a:pt x="240919" y="482092"/>
                  </a:lnTo>
                  <a:lnTo>
                    <a:pt x="240919" y="475742"/>
                  </a:lnTo>
                  <a:lnTo>
                    <a:pt x="240919" y="482092"/>
                  </a:lnTo>
                  <a:cubicBezTo>
                    <a:pt x="107950" y="481965"/>
                    <a:pt x="0" y="374142"/>
                    <a:pt x="0" y="241046"/>
                  </a:cubicBezTo>
                  <a:cubicBezTo>
                    <a:pt x="0" y="239903"/>
                    <a:pt x="381" y="238633"/>
                    <a:pt x="1016" y="237744"/>
                  </a:cubicBezTo>
                  <a:lnTo>
                    <a:pt x="6350" y="241046"/>
                  </a:lnTo>
                  <a:lnTo>
                    <a:pt x="0" y="241046"/>
                  </a:lnTo>
                  <a:moveTo>
                    <a:pt x="12700" y="241046"/>
                  </a:moveTo>
                  <a:cubicBezTo>
                    <a:pt x="12700" y="242189"/>
                    <a:pt x="12319" y="243459"/>
                    <a:pt x="11684" y="244348"/>
                  </a:cubicBezTo>
                  <a:lnTo>
                    <a:pt x="6350" y="241046"/>
                  </a:lnTo>
                  <a:lnTo>
                    <a:pt x="12700" y="241046"/>
                  </a:lnTo>
                  <a:cubicBezTo>
                    <a:pt x="12700" y="367030"/>
                    <a:pt x="114935" y="469265"/>
                    <a:pt x="241046" y="469265"/>
                  </a:cubicBezTo>
                  <a:cubicBezTo>
                    <a:pt x="367157" y="469265"/>
                    <a:pt x="469265" y="367030"/>
                    <a:pt x="469265" y="241046"/>
                  </a:cubicBezTo>
                  <a:cubicBezTo>
                    <a:pt x="469265" y="238125"/>
                    <a:pt x="471297" y="235585"/>
                    <a:pt x="474091" y="234823"/>
                  </a:cubicBezTo>
                  <a:lnTo>
                    <a:pt x="475615" y="241046"/>
                  </a:lnTo>
                  <a:lnTo>
                    <a:pt x="469265" y="241046"/>
                  </a:lnTo>
                  <a:cubicBezTo>
                    <a:pt x="469265" y="114935"/>
                    <a:pt x="367030" y="12700"/>
                    <a:pt x="241046" y="12700"/>
                  </a:cubicBezTo>
                  <a:cubicBezTo>
                    <a:pt x="239903" y="12700"/>
                    <a:pt x="238633" y="12319"/>
                    <a:pt x="237744" y="11684"/>
                  </a:cubicBezTo>
                  <a:lnTo>
                    <a:pt x="241046" y="6350"/>
                  </a:lnTo>
                  <a:lnTo>
                    <a:pt x="241046" y="12700"/>
                  </a:lnTo>
                  <a:cubicBezTo>
                    <a:pt x="114935" y="12700"/>
                    <a:pt x="12700" y="114935"/>
                    <a:pt x="12700" y="241046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28410" y="6361286"/>
            <a:ext cx="231576" cy="289471"/>
            <a:chOff x="0" y="0"/>
            <a:chExt cx="308768" cy="385962"/>
          </a:xfrm>
        </p:grpSpPr>
        <p:sp>
          <p:nvSpPr>
            <p:cNvPr id="45" name="Freeform 45" descr="preencoded.png"/>
            <p:cNvSpPr/>
            <p:nvPr/>
          </p:nvSpPr>
          <p:spPr>
            <a:xfrm>
              <a:off x="0" y="0"/>
              <a:ext cx="308737" cy="385953"/>
            </a:xfrm>
            <a:custGeom>
              <a:avLst/>
              <a:gdLst/>
              <a:ahLst/>
              <a:cxnLst/>
              <a:rect l="l" t="t" r="r" b="b"/>
              <a:pathLst>
                <a:path w="308737" h="385953">
                  <a:moveTo>
                    <a:pt x="0" y="0"/>
                  </a:moveTo>
                  <a:lnTo>
                    <a:pt x="308737" y="0"/>
                  </a:lnTo>
                  <a:lnTo>
                    <a:pt x="308737" y="385953"/>
                  </a:lnTo>
                  <a:lnTo>
                    <a:pt x="0" y="385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10" b="-2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9896178" y="6320879"/>
            <a:ext cx="2316213" cy="30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012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Data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896178" y="6738640"/>
            <a:ext cx="7453461" cy="28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57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Understand the current situation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1283851" y="1915865"/>
            <a:ext cx="4150221" cy="4150221"/>
            <a:chOff x="0" y="0"/>
            <a:chExt cx="5533628" cy="5533628"/>
          </a:xfrm>
        </p:grpSpPr>
        <p:sp>
          <p:nvSpPr>
            <p:cNvPr id="49" name="Freeform 49" descr="preencoded.png"/>
            <p:cNvSpPr/>
            <p:nvPr/>
          </p:nvSpPr>
          <p:spPr>
            <a:xfrm>
              <a:off x="0" y="0"/>
              <a:ext cx="5533644" cy="5533644"/>
            </a:xfrm>
            <a:custGeom>
              <a:avLst/>
              <a:gdLst/>
              <a:ahLst/>
              <a:cxnLst/>
              <a:rect l="l" t="t" r="r" b="b"/>
              <a:pathLst>
                <a:path w="5533644" h="5533644">
                  <a:moveTo>
                    <a:pt x="0" y="0"/>
                  </a:moveTo>
                  <a:lnTo>
                    <a:pt x="5533644" y="0"/>
                  </a:lnTo>
                  <a:lnTo>
                    <a:pt x="5533644" y="5533644"/>
                  </a:lnTo>
                  <a:lnTo>
                    <a:pt x="0" y="5533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4158987" y="2711871"/>
            <a:ext cx="263278" cy="329208"/>
            <a:chOff x="0" y="0"/>
            <a:chExt cx="351037" cy="438943"/>
          </a:xfrm>
        </p:grpSpPr>
        <p:sp>
          <p:nvSpPr>
            <p:cNvPr id="51" name="Freeform 51" descr="preencoded.png"/>
            <p:cNvSpPr/>
            <p:nvPr/>
          </p:nvSpPr>
          <p:spPr>
            <a:xfrm>
              <a:off x="0" y="0"/>
              <a:ext cx="351028" cy="438912"/>
            </a:xfrm>
            <a:custGeom>
              <a:avLst/>
              <a:gdLst/>
              <a:ahLst/>
              <a:cxnLst/>
              <a:rect l="l" t="t" r="r" b="b"/>
              <a:pathLst>
                <a:path w="351028" h="438912">
                  <a:moveTo>
                    <a:pt x="0" y="0"/>
                  </a:moveTo>
                  <a:lnTo>
                    <a:pt x="351028" y="0"/>
                  </a:lnTo>
                  <a:lnTo>
                    <a:pt x="351028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6" r="-19" b="-7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363521" y="7374731"/>
            <a:ext cx="361504" cy="361504"/>
            <a:chOff x="0" y="0"/>
            <a:chExt cx="482005" cy="482005"/>
          </a:xfrm>
        </p:grpSpPr>
        <p:sp>
          <p:nvSpPr>
            <p:cNvPr id="53" name="Freeform 53"/>
            <p:cNvSpPr/>
            <p:nvPr/>
          </p:nvSpPr>
          <p:spPr>
            <a:xfrm>
              <a:off x="6350" y="6350"/>
              <a:ext cx="469265" cy="469265"/>
            </a:xfrm>
            <a:custGeom>
              <a:avLst/>
              <a:gdLst/>
              <a:ahLst/>
              <a:cxnLst/>
              <a:rect l="l" t="t" r="r" b="b"/>
              <a:pathLst>
                <a:path w="469265" h="469265">
                  <a:moveTo>
                    <a:pt x="0" y="234696"/>
                  </a:moveTo>
                  <a:cubicBezTo>
                    <a:pt x="0" y="105029"/>
                    <a:pt x="105029" y="0"/>
                    <a:pt x="234696" y="0"/>
                  </a:cubicBezTo>
                  <a:cubicBezTo>
                    <a:pt x="364363" y="0"/>
                    <a:pt x="469265" y="105029"/>
                    <a:pt x="469265" y="234696"/>
                  </a:cubicBezTo>
                  <a:cubicBezTo>
                    <a:pt x="469265" y="364363"/>
                    <a:pt x="364236" y="469265"/>
                    <a:pt x="234696" y="469265"/>
                  </a:cubicBezTo>
                  <a:cubicBezTo>
                    <a:pt x="105156" y="469265"/>
                    <a:pt x="0" y="364236"/>
                    <a:pt x="0" y="234696"/>
                  </a:cubicBezTo>
                  <a:close/>
                </a:path>
              </a:pathLst>
            </a:custGeom>
            <a:solidFill>
              <a:srgbClr val="D4E9F7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0"/>
              <a:ext cx="481965" cy="482092"/>
            </a:xfrm>
            <a:custGeom>
              <a:avLst/>
              <a:gdLst/>
              <a:ahLst/>
              <a:cxnLst/>
              <a:rect l="l" t="t" r="r" b="b"/>
              <a:pathLst>
                <a:path w="481965" h="482092">
                  <a:moveTo>
                    <a:pt x="0" y="241046"/>
                  </a:moveTo>
                  <a:cubicBezTo>
                    <a:pt x="0" y="107950"/>
                    <a:pt x="107950" y="0"/>
                    <a:pt x="241046" y="0"/>
                  </a:cubicBezTo>
                  <a:cubicBezTo>
                    <a:pt x="242189" y="0"/>
                    <a:pt x="243459" y="381"/>
                    <a:pt x="244348" y="1016"/>
                  </a:cubicBezTo>
                  <a:lnTo>
                    <a:pt x="241046" y="6350"/>
                  </a:lnTo>
                  <a:lnTo>
                    <a:pt x="241046" y="0"/>
                  </a:lnTo>
                  <a:lnTo>
                    <a:pt x="241046" y="6350"/>
                  </a:lnTo>
                  <a:lnTo>
                    <a:pt x="241046" y="0"/>
                  </a:lnTo>
                  <a:cubicBezTo>
                    <a:pt x="374142" y="0"/>
                    <a:pt x="481965" y="107950"/>
                    <a:pt x="481965" y="241046"/>
                  </a:cubicBezTo>
                  <a:cubicBezTo>
                    <a:pt x="481965" y="243967"/>
                    <a:pt x="479933" y="246507"/>
                    <a:pt x="477139" y="247269"/>
                  </a:cubicBezTo>
                  <a:lnTo>
                    <a:pt x="475615" y="241046"/>
                  </a:lnTo>
                  <a:lnTo>
                    <a:pt x="481965" y="241046"/>
                  </a:lnTo>
                  <a:cubicBezTo>
                    <a:pt x="481965" y="374142"/>
                    <a:pt x="374015" y="482092"/>
                    <a:pt x="240919" y="482092"/>
                  </a:cubicBezTo>
                  <a:lnTo>
                    <a:pt x="240919" y="475742"/>
                  </a:lnTo>
                  <a:lnTo>
                    <a:pt x="240919" y="482092"/>
                  </a:lnTo>
                  <a:lnTo>
                    <a:pt x="240919" y="475742"/>
                  </a:lnTo>
                  <a:lnTo>
                    <a:pt x="240919" y="482092"/>
                  </a:lnTo>
                  <a:cubicBezTo>
                    <a:pt x="107950" y="481965"/>
                    <a:pt x="0" y="374142"/>
                    <a:pt x="0" y="241046"/>
                  </a:cubicBezTo>
                  <a:cubicBezTo>
                    <a:pt x="0" y="239903"/>
                    <a:pt x="381" y="238633"/>
                    <a:pt x="1016" y="237744"/>
                  </a:cubicBezTo>
                  <a:lnTo>
                    <a:pt x="6350" y="241046"/>
                  </a:lnTo>
                  <a:lnTo>
                    <a:pt x="0" y="241046"/>
                  </a:lnTo>
                  <a:moveTo>
                    <a:pt x="12700" y="241046"/>
                  </a:moveTo>
                  <a:cubicBezTo>
                    <a:pt x="12700" y="242189"/>
                    <a:pt x="12319" y="243459"/>
                    <a:pt x="11684" y="244348"/>
                  </a:cubicBezTo>
                  <a:lnTo>
                    <a:pt x="6350" y="241046"/>
                  </a:lnTo>
                  <a:lnTo>
                    <a:pt x="12700" y="241046"/>
                  </a:lnTo>
                  <a:cubicBezTo>
                    <a:pt x="12700" y="367030"/>
                    <a:pt x="114935" y="469265"/>
                    <a:pt x="241046" y="469265"/>
                  </a:cubicBezTo>
                  <a:cubicBezTo>
                    <a:pt x="367157" y="469265"/>
                    <a:pt x="469265" y="367030"/>
                    <a:pt x="469265" y="241046"/>
                  </a:cubicBezTo>
                  <a:cubicBezTo>
                    <a:pt x="469265" y="238125"/>
                    <a:pt x="471297" y="235585"/>
                    <a:pt x="474091" y="234823"/>
                  </a:cubicBezTo>
                  <a:lnTo>
                    <a:pt x="475615" y="241046"/>
                  </a:lnTo>
                  <a:lnTo>
                    <a:pt x="469265" y="241046"/>
                  </a:lnTo>
                  <a:cubicBezTo>
                    <a:pt x="469265" y="114935"/>
                    <a:pt x="367030" y="12700"/>
                    <a:pt x="241046" y="12700"/>
                  </a:cubicBezTo>
                  <a:cubicBezTo>
                    <a:pt x="239903" y="12700"/>
                    <a:pt x="238633" y="12319"/>
                    <a:pt x="237744" y="11684"/>
                  </a:cubicBezTo>
                  <a:lnTo>
                    <a:pt x="241046" y="6350"/>
                  </a:lnTo>
                  <a:lnTo>
                    <a:pt x="241046" y="12700"/>
                  </a:lnTo>
                  <a:cubicBezTo>
                    <a:pt x="114935" y="12700"/>
                    <a:pt x="12700" y="114935"/>
                    <a:pt x="12700" y="241046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428410" y="7410674"/>
            <a:ext cx="231576" cy="289471"/>
            <a:chOff x="0" y="0"/>
            <a:chExt cx="308768" cy="385962"/>
          </a:xfrm>
        </p:grpSpPr>
        <p:sp>
          <p:nvSpPr>
            <p:cNvPr id="56" name="Freeform 56" descr="preencoded.png"/>
            <p:cNvSpPr/>
            <p:nvPr/>
          </p:nvSpPr>
          <p:spPr>
            <a:xfrm>
              <a:off x="0" y="0"/>
              <a:ext cx="308737" cy="385953"/>
            </a:xfrm>
            <a:custGeom>
              <a:avLst/>
              <a:gdLst/>
              <a:ahLst/>
              <a:cxnLst/>
              <a:rect l="l" t="t" r="r" b="b"/>
              <a:pathLst>
                <a:path w="308737" h="385953">
                  <a:moveTo>
                    <a:pt x="0" y="0"/>
                  </a:moveTo>
                  <a:lnTo>
                    <a:pt x="308737" y="0"/>
                  </a:lnTo>
                  <a:lnTo>
                    <a:pt x="308737" y="385953"/>
                  </a:lnTo>
                  <a:lnTo>
                    <a:pt x="0" y="385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10" b="-2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896178" y="7370266"/>
            <a:ext cx="2316213" cy="30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012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Insight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896178" y="7788028"/>
            <a:ext cx="7453461" cy="28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57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Make sense of data and highlight where to target action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1283851" y="1915865"/>
            <a:ext cx="4150221" cy="4150221"/>
            <a:chOff x="0" y="0"/>
            <a:chExt cx="5533628" cy="5533628"/>
          </a:xfrm>
        </p:grpSpPr>
        <p:sp>
          <p:nvSpPr>
            <p:cNvPr id="60" name="Freeform 60" descr="preencoded.png"/>
            <p:cNvSpPr/>
            <p:nvPr/>
          </p:nvSpPr>
          <p:spPr>
            <a:xfrm>
              <a:off x="0" y="0"/>
              <a:ext cx="5533644" cy="5533644"/>
            </a:xfrm>
            <a:custGeom>
              <a:avLst/>
              <a:gdLst/>
              <a:ahLst/>
              <a:cxnLst/>
              <a:rect l="l" t="t" r="r" b="b"/>
              <a:pathLst>
                <a:path w="5533644" h="5533644">
                  <a:moveTo>
                    <a:pt x="0" y="0"/>
                  </a:moveTo>
                  <a:lnTo>
                    <a:pt x="5533644" y="0"/>
                  </a:lnTo>
                  <a:lnTo>
                    <a:pt x="5533644" y="5533644"/>
                  </a:lnTo>
                  <a:lnTo>
                    <a:pt x="0" y="5533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726492" y="5190306"/>
            <a:ext cx="263278" cy="329208"/>
            <a:chOff x="0" y="0"/>
            <a:chExt cx="351037" cy="438943"/>
          </a:xfrm>
        </p:grpSpPr>
        <p:sp>
          <p:nvSpPr>
            <p:cNvPr id="62" name="Freeform 62" descr="preencoded.png"/>
            <p:cNvSpPr/>
            <p:nvPr/>
          </p:nvSpPr>
          <p:spPr>
            <a:xfrm>
              <a:off x="0" y="0"/>
              <a:ext cx="351028" cy="438912"/>
            </a:xfrm>
            <a:custGeom>
              <a:avLst/>
              <a:gdLst/>
              <a:ahLst/>
              <a:cxnLst/>
              <a:rect l="l" t="t" r="r" b="b"/>
              <a:pathLst>
                <a:path w="351028" h="438912">
                  <a:moveTo>
                    <a:pt x="0" y="0"/>
                  </a:moveTo>
                  <a:lnTo>
                    <a:pt x="351028" y="0"/>
                  </a:lnTo>
                  <a:lnTo>
                    <a:pt x="351028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6" r="-19" b="-7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363521" y="8424119"/>
            <a:ext cx="361504" cy="361504"/>
            <a:chOff x="0" y="0"/>
            <a:chExt cx="482005" cy="482005"/>
          </a:xfrm>
        </p:grpSpPr>
        <p:sp>
          <p:nvSpPr>
            <p:cNvPr id="64" name="Freeform 64"/>
            <p:cNvSpPr/>
            <p:nvPr/>
          </p:nvSpPr>
          <p:spPr>
            <a:xfrm>
              <a:off x="6350" y="6350"/>
              <a:ext cx="469265" cy="469265"/>
            </a:xfrm>
            <a:custGeom>
              <a:avLst/>
              <a:gdLst/>
              <a:ahLst/>
              <a:cxnLst/>
              <a:rect l="l" t="t" r="r" b="b"/>
              <a:pathLst>
                <a:path w="469265" h="469265">
                  <a:moveTo>
                    <a:pt x="0" y="234696"/>
                  </a:moveTo>
                  <a:cubicBezTo>
                    <a:pt x="0" y="105029"/>
                    <a:pt x="105029" y="0"/>
                    <a:pt x="234696" y="0"/>
                  </a:cubicBezTo>
                  <a:cubicBezTo>
                    <a:pt x="364363" y="0"/>
                    <a:pt x="469265" y="105029"/>
                    <a:pt x="469265" y="234696"/>
                  </a:cubicBezTo>
                  <a:cubicBezTo>
                    <a:pt x="469265" y="364363"/>
                    <a:pt x="364236" y="469265"/>
                    <a:pt x="234696" y="469265"/>
                  </a:cubicBezTo>
                  <a:cubicBezTo>
                    <a:pt x="105156" y="469265"/>
                    <a:pt x="0" y="364236"/>
                    <a:pt x="0" y="234696"/>
                  </a:cubicBezTo>
                  <a:close/>
                </a:path>
              </a:pathLst>
            </a:custGeom>
            <a:solidFill>
              <a:srgbClr val="D4E9F7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Freeform 65"/>
            <p:cNvSpPr/>
            <p:nvPr/>
          </p:nvSpPr>
          <p:spPr>
            <a:xfrm>
              <a:off x="0" y="0"/>
              <a:ext cx="481965" cy="482092"/>
            </a:xfrm>
            <a:custGeom>
              <a:avLst/>
              <a:gdLst/>
              <a:ahLst/>
              <a:cxnLst/>
              <a:rect l="l" t="t" r="r" b="b"/>
              <a:pathLst>
                <a:path w="481965" h="482092">
                  <a:moveTo>
                    <a:pt x="0" y="241046"/>
                  </a:moveTo>
                  <a:cubicBezTo>
                    <a:pt x="0" y="107950"/>
                    <a:pt x="107950" y="0"/>
                    <a:pt x="241046" y="0"/>
                  </a:cubicBezTo>
                  <a:cubicBezTo>
                    <a:pt x="242189" y="0"/>
                    <a:pt x="243459" y="381"/>
                    <a:pt x="244348" y="1016"/>
                  </a:cubicBezTo>
                  <a:lnTo>
                    <a:pt x="241046" y="6350"/>
                  </a:lnTo>
                  <a:lnTo>
                    <a:pt x="241046" y="0"/>
                  </a:lnTo>
                  <a:lnTo>
                    <a:pt x="241046" y="6350"/>
                  </a:lnTo>
                  <a:lnTo>
                    <a:pt x="241046" y="0"/>
                  </a:lnTo>
                  <a:cubicBezTo>
                    <a:pt x="374142" y="0"/>
                    <a:pt x="481965" y="107950"/>
                    <a:pt x="481965" y="241046"/>
                  </a:cubicBezTo>
                  <a:cubicBezTo>
                    <a:pt x="481965" y="243967"/>
                    <a:pt x="479933" y="246507"/>
                    <a:pt x="477139" y="247269"/>
                  </a:cubicBezTo>
                  <a:lnTo>
                    <a:pt x="475615" y="241046"/>
                  </a:lnTo>
                  <a:lnTo>
                    <a:pt x="481965" y="241046"/>
                  </a:lnTo>
                  <a:cubicBezTo>
                    <a:pt x="481965" y="374142"/>
                    <a:pt x="374015" y="482092"/>
                    <a:pt x="240919" y="482092"/>
                  </a:cubicBezTo>
                  <a:lnTo>
                    <a:pt x="240919" y="475742"/>
                  </a:lnTo>
                  <a:lnTo>
                    <a:pt x="240919" y="482092"/>
                  </a:lnTo>
                  <a:lnTo>
                    <a:pt x="240919" y="475742"/>
                  </a:lnTo>
                  <a:lnTo>
                    <a:pt x="240919" y="482092"/>
                  </a:lnTo>
                  <a:cubicBezTo>
                    <a:pt x="107950" y="481965"/>
                    <a:pt x="0" y="374142"/>
                    <a:pt x="0" y="241046"/>
                  </a:cubicBezTo>
                  <a:cubicBezTo>
                    <a:pt x="0" y="239903"/>
                    <a:pt x="381" y="238633"/>
                    <a:pt x="1016" y="237744"/>
                  </a:cubicBezTo>
                  <a:lnTo>
                    <a:pt x="6350" y="241046"/>
                  </a:lnTo>
                  <a:lnTo>
                    <a:pt x="0" y="241046"/>
                  </a:lnTo>
                  <a:moveTo>
                    <a:pt x="12700" y="241046"/>
                  </a:moveTo>
                  <a:cubicBezTo>
                    <a:pt x="12700" y="242189"/>
                    <a:pt x="12319" y="243459"/>
                    <a:pt x="11684" y="244348"/>
                  </a:cubicBezTo>
                  <a:lnTo>
                    <a:pt x="6350" y="241046"/>
                  </a:lnTo>
                  <a:lnTo>
                    <a:pt x="12700" y="241046"/>
                  </a:lnTo>
                  <a:cubicBezTo>
                    <a:pt x="12700" y="367030"/>
                    <a:pt x="114935" y="469265"/>
                    <a:pt x="241046" y="469265"/>
                  </a:cubicBezTo>
                  <a:cubicBezTo>
                    <a:pt x="367157" y="469265"/>
                    <a:pt x="469265" y="367030"/>
                    <a:pt x="469265" y="241046"/>
                  </a:cubicBezTo>
                  <a:cubicBezTo>
                    <a:pt x="469265" y="238125"/>
                    <a:pt x="471297" y="235585"/>
                    <a:pt x="474091" y="234823"/>
                  </a:cubicBezTo>
                  <a:lnTo>
                    <a:pt x="475615" y="241046"/>
                  </a:lnTo>
                  <a:lnTo>
                    <a:pt x="469265" y="241046"/>
                  </a:lnTo>
                  <a:cubicBezTo>
                    <a:pt x="469265" y="114935"/>
                    <a:pt x="367030" y="12700"/>
                    <a:pt x="241046" y="12700"/>
                  </a:cubicBezTo>
                  <a:cubicBezTo>
                    <a:pt x="239903" y="12700"/>
                    <a:pt x="238633" y="12319"/>
                    <a:pt x="237744" y="11684"/>
                  </a:cubicBezTo>
                  <a:lnTo>
                    <a:pt x="241046" y="6350"/>
                  </a:lnTo>
                  <a:lnTo>
                    <a:pt x="241046" y="12700"/>
                  </a:lnTo>
                  <a:cubicBezTo>
                    <a:pt x="114935" y="12700"/>
                    <a:pt x="12700" y="114935"/>
                    <a:pt x="12700" y="241046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428410" y="8460060"/>
            <a:ext cx="231576" cy="289471"/>
            <a:chOff x="0" y="0"/>
            <a:chExt cx="308768" cy="385962"/>
          </a:xfrm>
        </p:grpSpPr>
        <p:sp>
          <p:nvSpPr>
            <p:cNvPr id="67" name="Freeform 67" descr="preencoded.png"/>
            <p:cNvSpPr/>
            <p:nvPr/>
          </p:nvSpPr>
          <p:spPr>
            <a:xfrm>
              <a:off x="0" y="0"/>
              <a:ext cx="308737" cy="385953"/>
            </a:xfrm>
            <a:custGeom>
              <a:avLst/>
              <a:gdLst/>
              <a:ahLst/>
              <a:cxnLst/>
              <a:rect l="l" t="t" r="r" b="b"/>
              <a:pathLst>
                <a:path w="308737" h="385953">
                  <a:moveTo>
                    <a:pt x="0" y="0"/>
                  </a:moveTo>
                  <a:lnTo>
                    <a:pt x="308737" y="0"/>
                  </a:lnTo>
                  <a:lnTo>
                    <a:pt x="308737" y="385953"/>
                  </a:lnTo>
                  <a:lnTo>
                    <a:pt x="0" y="385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r="-10" b="-2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9896178" y="8419654"/>
            <a:ext cx="2316213" cy="30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012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Action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896178" y="8837414"/>
            <a:ext cx="7453461" cy="28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57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Move from data-driven insight to targeted action to deliver impactful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47886" y="2660749"/>
            <a:ext cx="7126932" cy="840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Workflow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886" y="4131320"/>
            <a:ext cx="16392228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Our analysis is consolidated within a single notebook: my_script.ipynb.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7886" y="5186660"/>
            <a:ext cx="16392228" cy="38100"/>
            <a:chOff x="0" y="0"/>
            <a:chExt cx="21856303" cy="50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856319" cy="50800"/>
            </a:xfrm>
            <a:custGeom>
              <a:avLst/>
              <a:gdLst/>
              <a:ahLst/>
              <a:cxnLst/>
              <a:rect l="l" t="t" r="r" b="b"/>
              <a:pathLst>
                <a:path w="21856319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830919" y="0"/>
                  </a:lnTo>
                  <a:cubicBezTo>
                    <a:pt x="21844888" y="0"/>
                    <a:pt x="21856319" y="11430"/>
                    <a:pt x="21856319" y="25400"/>
                  </a:cubicBezTo>
                  <a:cubicBezTo>
                    <a:pt x="21856319" y="39370"/>
                    <a:pt x="21844888" y="50800"/>
                    <a:pt x="21830919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432596" y="5186660"/>
            <a:ext cx="38100" cy="541585"/>
            <a:chOff x="0" y="0"/>
            <a:chExt cx="50800" cy="7221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800" cy="722122"/>
            </a:xfrm>
            <a:custGeom>
              <a:avLst/>
              <a:gdLst/>
              <a:ahLst/>
              <a:cxnLst/>
              <a:rect l="l" t="t" r="r" b="b"/>
              <a:pathLst>
                <a:path w="50800" h="72212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696722"/>
                  </a:lnTo>
                  <a:cubicBezTo>
                    <a:pt x="50800" y="710692"/>
                    <a:pt x="39370" y="722122"/>
                    <a:pt x="25400" y="722122"/>
                  </a:cubicBezTo>
                  <a:cubicBezTo>
                    <a:pt x="11430" y="722122"/>
                    <a:pt x="0" y="710692"/>
                    <a:pt x="0" y="696722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50145" y="5085160"/>
            <a:ext cx="203001" cy="203001"/>
            <a:chOff x="0" y="0"/>
            <a:chExt cx="270668" cy="270668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270637" cy="270637"/>
            </a:xfrm>
            <a:custGeom>
              <a:avLst/>
              <a:gdLst/>
              <a:ahLst/>
              <a:cxnLst/>
              <a:rect l="l" t="t" r="r" b="b"/>
              <a:pathLst>
                <a:path w="270637" h="270637">
                  <a:moveTo>
                    <a:pt x="0" y="0"/>
                  </a:moveTo>
                  <a:lnTo>
                    <a:pt x="270637" y="0"/>
                  </a:lnTo>
                  <a:lnTo>
                    <a:pt x="270637" y="270637"/>
                  </a:lnTo>
                  <a:lnTo>
                    <a:pt x="0" y="27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1" b="-11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18605" y="5913536"/>
            <a:ext cx="2466231" cy="41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8605" y="6492627"/>
            <a:ext cx="2466231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Data Understanding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778699" y="5186660"/>
            <a:ext cx="38100" cy="541585"/>
            <a:chOff x="0" y="0"/>
            <a:chExt cx="50800" cy="7221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0800" cy="722122"/>
            </a:xfrm>
            <a:custGeom>
              <a:avLst/>
              <a:gdLst/>
              <a:ahLst/>
              <a:cxnLst/>
              <a:rect l="l" t="t" r="r" b="b"/>
              <a:pathLst>
                <a:path w="50800" h="72212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696722"/>
                  </a:lnTo>
                  <a:cubicBezTo>
                    <a:pt x="50800" y="710692"/>
                    <a:pt x="39370" y="722122"/>
                    <a:pt x="25400" y="722122"/>
                  </a:cubicBezTo>
                  <a:cubicBezTo>
                    <a:pt x="11430" y="722122"/>
                    <a:pt x="0" y="710692"/>
                    <a:pt x="0" y="696722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696247" y="5085160"/>
            <a:ext cx="203001" cy="203001"/>
            <a:chOff x="0" y="0"/>
            <a:chExt cx="270668" cy="270668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270637" cy="270637"/>
            </a:xfrm>
            <a:custGeom>
              <a:avLst/>
              <a:gdLst/>
              <a:ahLst/>
              <a:cxnLst/>
              <a:rect l="l" t="t" r="r" b="b"/>
              <a:pathLst>
                <a:path w="270637" h="270637">
                  <a:moveTo>
                    <a:pt x="0" y="0"/>
                  </a:moveTo>
                  <a:lnTo>
                    <a:pt x="270637" y="0"/>
                  </a:lnTo>
                  <a:lnTo>
                    <a:pt x="270637" y="270637"/>
                  </a:lnTo>
                  <a:lnTo>
                    <a:pt x="0" y="27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1" b="-11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564707" y="5913536"/>
            <a:ext cx="2466231" cy="41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64707" y="6492627"/>
            <a:ext cx="2466231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Data Cleaning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24801" y="5186660"/>
            <a:ext cx="38100" cy="541585"/>
            <a:chOff x="0" y="0"/>
            <a:chExt cx="50800" cy="72211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800" cy="722122"/>
            </a:xfrm>
            <a:custGeom>
              <a:avLst/>
              <a:gdLst/>
              <a:ahLst/>
              <a:cxnLst/>
              <a:rect l="l" t="t" r="r" b="b"/>
              <a:pathLst>
                <a:path w="50800" h="72212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696722"/>
                  </a:lnTo>
                  <a:cubicBezTo>
                    <a:pt x="50800" y="710692"/>
                    <a:pt x="39370" y="722122"/>
                    <a:pt x="25400" y="722122"/>
                  </a:cubicBezTo>
                  <a:cubicBezTo>
                    <a:pt x="11430" y="722122"/>
                    <a:pt x="0" y="710692"/>
                    <a:pt x="0" y="696722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42350" y="5085160"/>
            <a:ext cx="203001" cy="203001"/>
            <a:chOff x="0" y="0"/>
            <a:chExt cx="270668" cy="270668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270637" cy="270637"/>
            </a:xfrm>
            <a:custGeom>
              <a:avLst/>
              <a:gdLst/>
              <a:ahLst/>
              <a:cxnLst/>
              <a:rect l="l" t="t" r="r" b="b"/>
              <a:pathLst>
                <a:path w="270637" h="270637">
                  <a:moveTo>
                    <a:pt x="0" y="0"/>
                  </a:moveTo>
                  <a:lnTo>
                    <a:pt x="270637" y="0"/>
                  </a:lnTo>
                  <a:lnTo>
                    <a:pt x="270637" y="270637"/>
                  </a:lnTo>
                  <a:lnTo>
                    <a:pt x="0" y="27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1" b="-11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910810" y="5913536"/>
            <a:ext cx="2466231" cy="41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10810" y="6492627"/>
            <a:ext cx="2466231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Exploratory Analysis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2470904" y="5186660"/>
            <a:ext cx="38100" cy="541585"/>
            <a:chOff x="0" y="0"/>
            <a:chExt cx="50800" cy="72211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800" cy="722122"/>
            </a:xfrm>
            <a:custGeom>
              <a:avLst/>
              <a:gdLst/>
              <a:ahLst/>
              <a:cxnLst/>
              <a:rect l="l" t="t" r="r" b="b"/>
              <a:pathLst>
                <a:path w="50800" h="72212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696722"/>
                  </a:lnTo>
                  <a:cubicBezTo>
                    <a:pt x="50800" y="710692"/>
                    <a:pt x="39370" y="722122"/>
                    <a:pt x="25400" y="722122"/>
                  </a:cubicBezTo>
                  <a:cubicBezTo>
                    <a:pt x="11430" y="722122"/>
                    <a:pt x="0" y="710692"/>
                    <a:pt x="0" y="696722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388454" y="5085160"/>
            <a:ext cx="203001" cy="203001"/>
            <a:chOff x="0" y="0"/>
            <a:chExt cx="270668" cy="270668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270637" cy="270637"/>
            </a:xfrm>
            <a:custGeom>
              <a:avLst/>
              <a:gdLst/>
              <a:ahLst/>
              <a:cxnLst/>
              <a:rect l="l" t="t" r="r" b="b"/>
              <a:pathLst>
                <a:path w="270637" h="270637">
                  <a:moveTo>
                    <a:pt x="0" y="0"/>
                  </a:moveTo>
                  <a:lnTo>
                    <a:pt x="270637" y="0"/>
                  </a:lnTo>
                  <a:lnTo>
                    <a:pt x="270637" y="270637"/>
                  </a:lnTo>
                  <a:lnTo>
                    <a:pt x="0" y="27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1" b="-11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256913" y="5913536"/>
            <a:ext cx="2466231" cy="41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56912" y="6492627"/>
            <a:ext cx="2847806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Customer Segmentation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5817006" y="5186660"/>
            <a:ext cx="38100" cy="541585"/>
            <a:chOff x="0" y="0"/>
            <a:chExt cx="50800" cy="72211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0800" cy="722122"/>
            </a:xfrm>
            <a:custGeom>
              <a:avLst/>
              <a:gdLst/>
              <a:ahLst/>
              <a:cxnLst/>
              <a:rect l="l" t="t" r="r" b="b"/>
              <a:pathLst>
                <a:path w="50800" h="72212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696722"/>
                  </a:lnTo>
                  <a:cubicBezTo>
                    <a:pt x="50800" y="710692"/>
                    <a:pt x="39370" y="722122"/>
                    <a:pt x="25400" y="722122"/>
                  </a:cubicBezTo>
                  <a:cubicBezTo>
                    <a:pt x="11430" y="722122"/>
                    <a:pt x="0" y="710692"/>
                    <a:pt x="0" y="696722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734556" y="5085160"/>
            <a:ext cx="203001" cy="203001"/>
            <a:chOff x="0" y="0"/>
            <a:chExt cx="270668" cy="270668"/>
          </a:xfrm>
        </p:grpSpPr>
        <p:sp>
          <p:nvSpPr>
            <p:cNvPr id="37" name="Freeform 37" descr="preencoded.png"/>
            <p:cNvSpPr/>
            <p:nvPr/>
          </p:nvSpPr>
          <p:spPr>
            <a:xfrm>
              <a:off x="0" y="0"/>
              <a:ext cx="270637" cy="270637"/>
            </a:xfrm>
            <a:custGeom>
              <a:avLst/>
              <a:gdLst/>
              <a:ahLst/>
              <a:cxnLst/>
              <a:rect l="l" t="t" r="r" b="b"/>
              <a:pathLst>
                <a:path w="270637" h="270637">
                  <a:moveTo>
                    <a:pt x="0" y="0"/>
                  </a:moveTo>
                  <a:lnTo>
                    <a:pt x="270637" y="0"/>
                  </a:lnTo>
                  <a:lnTo>
                    <a:pt x="270637" y="270637"/>
                  </a:lnTo>
                  <a:lnTo>
                    <a:pt x="0" y="27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1" b="-11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4603016" y="5913536"/>
            <a:ext cx="2466231" cy="41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05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603016" y="6492627"/>
            <a:ext cx="2466231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Advanced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47886" y="2567136"/>
            <a:ext cx="9534228" cy="173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Data Understanding &amp; Cleaning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886" y="5092452"/>
            <a:ext cx="4276130" cy="50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Initial Assessment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886" y="5869038"/>
            <a:ext cx="4436715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Checked data structure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886" y="6397079"/>
            <a:ext cx="4436715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Identified missing values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886" y="6925121"/>
            <a:ext cx="4436715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Verified data types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54924" y="5092452"/>
            <a:ext cx="4276130" cy="50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Refinement Process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54924" y="5869038"/>
            <a:ext cx="4436715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Cleaned inconsistencies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54924" y="6397079"/>
            <a:ext cx="4436715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Standardized formats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54924" y="6925121"/>
            <a:ext cx="4436715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Validated dataset integrity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434822" y="0"/>
            <a:ext cx="6853178" cy="10279766"/>
            <a:chOff x="0" y="0"/>
            <a:chExt cx="9137570" cy="13706355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9137523" cy="13706348"/>
            </a:xfrm>
            <a:custGeom>
              <a:avLst/>
              <a:gdLst/>
              <a:ahLst/>
              <a:cxnLst/>
              <a:rect l="l" t="t" r="r" b="b"/>
              <a:pathLst>
                <a:path w="9137523" h="13706348">
                  <a:moveTo>
                    <a:pt x="0" y="0"/>
                  </a:moveTo>
                  <a:lnTo>
                    <a:pt x="9137523" y="0"/>
                  </a:lnTo>
                  <a:lnTo>
                    <a:pt x="9137523" y="13706348"/>
                  </a:lnTo>
                  <a:lnTo>
                    <a:pt x="0" y="13706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905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47886" y="812304"/>
            <a:ext cx="8834358" cy="684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537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Exploratory Data Analysis (EDA)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886" y="2123480"/>
            <a:ext cx="2850802" cy="34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287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Key Metrics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7886" y="2648842"/>
            <a:ext cx="7931795" cy="323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577" lvl="1" indent="-134788" algn="l">
              <a:lnSpc>
                <a:spcPts val="2846"/>
              </a:lnSpc>
              <a:buFont typeface="Arial"/>
              <a:buChar char="•"/>
            </a:pPr>
            <a:r>
              <a:rPr lang="en-US" sz="178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Customer Demographics: Gender, age groups, senior citizen status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886" y="3071218"/>
            <a:ext cx="7931795" cy="323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577" lvl="1" indent="-134788" algn="l">
              <a:lnSpc>
                <a:spcPts val="2846"/>
              </a:lnSpc>
              <a:buFont typeface="Arial"/>
              <a:buChar char="•"/>
            </a:pPr>
            <a:r>
              <a:rPr lang="en-US" sz="178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Tenure Insights: Distribution of customer lifecycles (short, medium, long-term)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886" y="3521900"/>
            <a:ext cx="7931795" cy="323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577" lvl="1" indent="-134788" algn="l">
              <a:lnSpc>
                <a:spcPts val="2846"/>
              </a:lnSpc>
              <a:buFont typeface="Arial"/>
              <a:buChar char="•"/>
            </a:pPr>
            <a:r>
              <a:rPr lang="en-US" sz="178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Revenue Drivers: Monthly and total charges trends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886" y="3944274"/>
            <a:ext cx="7931795" cy="323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577" lvl="1" indent="-134788" algn="l">
              <a:lnSpc>
                <a:spcPts val="2846"/>
              </a:lnSpc>
              <a:buFont typeface="Arial"/>
              <a:buChar char="•"/>
            </a:pPr>
            <a:r>
              <a:rPr lang="en-US" sz="178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Churn Profile: Churn rate across segments and service types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17844" y="2123480"/>
            <a:ext cx="2850802" cy="34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287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Churn Balance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17844" y="2648842"/>
            <a:ext cx="7931795" cy="323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178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Assessed the balance of churned vs. non-churned customers.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417844" y="3343870"/>
            <a:ext cx="6345436" cy="5772745"/>
            <a:chOff x="0" y="0"/>
            <a:chExt cx="8460582" cy="7696993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8460613" cy="7696962"/>
            </a:xfrm>
            <a:custGeom>
              <a:avLst/>
              <a:gdLst/>
              <a:ahLst/>
              <a:cxnLst/>
              <a:rect l="l" t="t" r="r" b="b"/>
              <a:pathLst>
                <a:path w="8460613" h="7696962">
                  <a:moveTo>
                    <a:pt x="0" y="0"/>
                  </a:moveTo>
                  <a:lnTo>
                    <a:pt x="8460613" y="0"/>
                  </a:lnTo>
                  <a:lnTo>
                    <a:pt x="8460613" y="7696962"/>
                  </a:lnTo>
                  <a:lnTo>
                    <a:pt x="0" y="7696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" b="-9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47886" y="2176611"/>
            <a:ext cx="5003452" cy="56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825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Customer Segmentation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886" y="3079105"/>
            <a:ext cx="16392228" cy="402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174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Customers were segmented into tenure buckets to analyze spending patterns.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38361" y="3870871"/>
            <a:ext cx="9302257" cy="1411536"/>
            <a:chOff x="0" y="0"/>
            <a:chExt cx="10667207" cy="1618655"/>
          </a:xfrm>
        </p:grpSpPr>
        <p:sp>
          <p:nvSpPr>
            <p:cNvPr id="9" name="Freeform 9"/>
            <p:cNvSpPr/>
            <p:nvPr/>
          </p:nvSpPr>
          <p:spPr>
            <a:xfrm>
              <a:off x="12700" y="12700"/>
              <a:ext cx="10641838" cy="1593215"/>
            </a:xfrm>
            <a:custGeom>
              <a:avLst/>
              <a:gdLst/>
              <a:ahLst/>
              <a:cxnLst/>
              <a:rect l="l" t="t" r="r" b="b"/>
              <a:pathLst>
                <a:path w="10641838" h="1593215">
                  <a:moveTo>
                    <a:pt x="0" y="352044"/>
                  </a:moveTo>
                  <a:cubicBezTo>
                    <a:pt x="0" y="157607"/>
                    <a:pt x="159766" y="0"/>
                    <a:pt x="356870" y="0"/>
                  </a:cubicBezTo>
                  <a:lnTo>
                    <a:pt x="10284968" y="0"/>
                  </a:lnTo>
                  <a:cubicBezTo>
                    <a:pt x="10482073" y="0"/>
                    <a:pt x="10641838" y="157607"/>
                    <a:pt x="10641838" y="352044"/>
                  </a:cubicBezTo>
                  <a:lnTo>
                    <a:pt x="10641838" y="1241171"/>
                  </a:lnTo>
                  <a:cubicBezTo>
                    <a:pt x="10641838" y="1435608"/>
                    <a:pt x="10482073" y="1593215"/>
                    <a:pt x="10284968" y="1593215"/>
                  </a:cubicBezTo>
                  <a:lnTo>
                    <a:pt x="356870" y="1593215"/>
                  </a:lnTo>
                  <a:cubicBezTo>
                    <a:pt x="159766" y="1593215"/>
                    <a:pt x="0" y="1435608"/>
                    <a:pt x="0" y="12411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0667238" cy="1618615"/>
            </a:xfrm>
            <a:custGeom>
              <a:avLst/>
              <a:gdLst/>
              <a:ahLst/>
              <a:cxnLst/>
              <a:rect l="l" t="t" r="r" b="b"/>
              <a:pathLst>
                <a:path w="10667238" h="1618615">
                  <a:moveTo>
                    <a:pt x="0" y="364744"/>
                  </a:moveTo>
                  <a:cubicBezTo>
                    <a:pt x="0" y="163195"/>
                    <a:pt x="165608" y="0"/>
                    <a:pt x="369570" y="0"/>
                  </a:cubicBezTo>
                  <a:lnTo>
                    <a:pt x="10297668" y="0"/>
                  </a:lnTo>
                  <a:lnTo>
                    <a:pt x="10297668" y="12700"/>
                  </a:lnTo>
                  <a:lnTo>
                    <a:pt x="10297668" y="0"/>
                  </a:lnTo>
                  <a:cubicBezTo>
                    <a:pt x="10501630" y="0"/>
                    <a:pt x="10667238" y="163195"/>
                    <a:pt x="10667238" y="364744"/>
                  </a:cubicBezTo>
                  <a:lnTo>
                    <a:pt x="10654538" y="364744"/>
                  </a:lnTo>
                  <a:lnTo>
                    <a:pt x="10667238" y="364744"/>
                  </a:lnTo>
                  <a:lnTo>
                    <a:pt x="10667238" y="1253871"/>
                  </a:lnTo>
                  <a:lnTo>
                    <a:pt x="10654538" y="1253871"/>
                  </a:lnTo>
                  <a:lnTo>
                    <a:pt x="10667238" y="1253871"/>
                  </a:lnTo>
                  <a:cubicBezTo>
                    <a:pt x="10667238" y="1455547"/>
                    <a:pt x="10501630" y="1618615"/>
                    <a:pt x="10297668" y="1618615"/>
                  </a:cubicBezTo>
                  <a:lnTo>
                    <a:pt x="10297668" y="1605915"/>
                  </a:lnTo>
                  <a:lnTo>
                    <a:pt x="10297668" y="1618615"/>
                  </a:lnTo>
                  <a:lnTo>
                    <a:pt x="369570" y="1618615"/>
                  </a:lnTo>
                  <a:lnTo>
                    <a:pt x="369570" y="1605915"/>
                  </a:lnTo>
                  <a:lnTo>
                    <a:pt x="369570" y="1618615"/>
                  </a:lnTo>
                  <a:cubicBezTo>
                    <a:pt x="165608" y="1618615"/>
                    <a:pt x="0" y="1455547"/>
                    <a:pt x="0" y="1253871"/>
                  </a:cubicBezTo>
                  <a:lnTo>
                    <a:pt x="0" y="364744"/>
                  </a:lnTo>
                  <a:lnTo>
                    <a:pt x="12700" y="364744"/>
                  </a:lnTo>
                  <a:lnTo>
                    <a:pt x="0" y="364744"/>
                  </a:lnTo>
                  <a:moveTo>
                    <a:pt x="25400" y="364744"/>
                  </a:moveTo>
                  <a:lnTo>
                    <a:pt x="25400" y="1253871"/>
                  </a:lnTo>
                  <a:lnTo>
                    <a:pt x="12700" y="1253871"/>
                  </a:lnTo>
                  <a:lnTo>
                    <a:pt x="25400" y="1253871"/>
                  </a:lnTo>
                  <a:cubicBezTo>
                    <a:pt x="25400" y="1441196"/>
                    <a:pt x="179324" y="1593215"/>
                    <a:pt x="369570" y="1593215"/>
                  </a:cubicBezTo>
                  <a:lnTo>
                    <a:pt x="10297668" y="1593215"/>
                  </a:lnTo>
                  <a:cubicBezTo>
                    <a:pt x="10487914" y="1593215"/>
                    <a:pt x="10641838" y="1441069"/>
                    <a:pt x="10641838" y="1253871"/>
                  </a:cubicBezTo>
                  <a:lnTo>
                    <a:pt x="10641838" y="364744"/>
                  </a:lnTo>
                  <a:cubicBezTo>
                    <a:pt x="10641838" y="177546"/>
                    <a:pt x="10487914" y="25400"/>
                    <a:pt x="10297668" y="25400"/>
                  </a:cubicBezTo>
                  <a:lnTo>
                    <a:pt x="369570" y="25400"/>
                  </a:lnTo>
                  <a:lnTo>
                    <a:pt x="369570" y="12700"/>
                  </a:lnTo>
                  <a:lnTo>
                    <a:pt x="369570" y="25400"/>
                  </a:lnTo>
                  <a:cubicBezTo>
                    <a:pt x="179324" y="25400"/>
                    <a:pt x="25400" y="177546"/>
                    <a:pt x="25400" y="364744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76127" y="4032435"/>
            <a:ext cx="3231805" cy="410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2775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Short-Term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6127" y="4612463"/>
            <a:ext cx="8826727" cy="33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sz="1831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0–12 months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38361" y="5464796"/>
            <a:ext cx="9302257" cy="1411536"/>
            <a:chOff x="0" y="0"/>
            <a:chExt cx="10667207" cy="1618655"/>
          </a:xfrm>
        </p:grpSpPr>
        <p:sp>
          <p:nvSpPr>
            <p:cNvPr id="14" name="Freeform 14"/>
            <p:cNvSpPr/>
            <p:nvPr/>
          </p:nvSpPr>
          <p:spPr>
            <a:xfrm>
              <a:off x="12700" y="12700"/>
              <a:ext cx="10641838" cy="1593215"/>
            </a:xfrm>
            <a:custGeom>
              <a:avLst/>
              <a:gdLst/>
              <a:ahLst/>
              <a:cxnLst/>
              <a:rect l="l" t="t" r="r" b="b"/>
              <a:pathLst>
                <a:path w="10641838" h="1593215">
                  <a:moveTo>
                    <a:pt x="0" y="352044"/>
                  </a:moveTo>
                  <a:cubicBezTo>
                    <a:pt x="0" y="157607"/>
                    <a:pt x="159766" y="0"/>
                    <a:pt x="356870" y="0"/>
                  </a:cubicBezTo>
                  <a:lnTo>
                    <a:pt x="10284968" y="0"/>
                  </a:lnTo>
                  <a:cubicBezTo>
                    <a:pt x="10482073" y="0"/>
                    <a:pt x="10641838" y="157607"/>
                    <a:pt x="10641838" y="352044"/>
                  </a:cubicBezTo>
                  <a:lnTo>
                    <a:pt x="10641838" y="1241171"/>
                  </a:lnTo>
                  <a:cubicBezTo>
                    <a:pt x="10641838" y="1435608"/>
                    <a:pt x="10482073" y="1593215"/>
                    <a:pt x="10284968" y="1593215"/>
                  </a:cubicBezTo>
                  <a:lnTo>
                    <a:pt x="356870" y="1593215"/>
                  </a:lnTo>
                  <a:cubicBezTo>
                    <a:pt x="159766" y="1593215"/>
                    <a:pt x="0" y="1435608"/>
                    <a:pt x="0" y="12411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10667238" cy="1618615"/>
            </a:xfrm>
            <a:custGeom>
              <a:avLst/>
              <a:gdLst/>
              <a:ahLst/>
              <a:cxnLst/>
              <a:rect l="l" t="t" r="r" b="b"/>
              <a:pathLst>
                <a:path w="10667238" h="1618615">
                  <a:moveTo>
                    <a:pt x="0" y="364744"/>
                  </a:moveTo>
                  <a:cubicBezTo>
                    <a:pt x="0" y="163195"/>
                    <a:pt x="165608" y="0"/>
                    <a:pt x="369570" y="0"/>
                  </a:cubicBezTo>
                  <a:lnTo>
                    <a:pt x="10297668" y="0"/>
                  </a:lnTo>
                  <a:lnTo>
                    <a:pt x="10297668" y="12700"/>
                  </a:lnTo>
                  <a:lnTo>
                    <a:pt x="10297668" y="0"/>
                  </a:lnTo>
                  <a:cubicBezTo>
                    <a:pt x="10501630" y="0"/>
                    <a:pt x="10667238" y="163195"/>
                    <a:pt x="10667238" y="364744"/>
                  </a:cubicBezTo>
                  <a:lnTo>
                    <a:pt x="10654538" y="364744"/>
                  </a:lnTo>
                  <a:lnTo>
                    <a:pt x="10667238" y="364744"/>
                  </a:lnTo>
                  <a:lnTo>
                    <a:pt x="10667238" y="1253871"/>
                  </a:lnTo>
                  <a:lnTo>
                    <a:pt x="10654538" y="1253871"/>
                  </a:lnTo>
                  <a:lnTo>
                    <a:pt x="10667238" y="1253871"/>
                  </a:lnTo>
                  <a:cubicBezTo>
                    <a:pt x="10667238" y="1455547"/>
                    <a:pt x="10501630" y="1618615"/>
                    <a:pt x="10297668" y="1618615"/>
                  </a:cubicBezTo>
                  <a:lnTo>
                    <a:pt x="10297668" y="1605915"/>
                  </a:lnTo>
                  <a:lnTo>
                    <a:pt x="10297668" y="1618615"/>
                  </a:lnTo>
                  <a:lnTo>
                    <a:pt x="369570" y="1618615"/>
                  </a:lnTo>
                  <a:lnTo>
                    <a:pt x="369570" y="1605915"/>
                  </a:lnTo>
                  <a:lnTo>
                    <a:pt x="369570" y="1618615"/>
                  </a:lnTo>
                  <a:cubicBezTo>
                    <a:pt x="165608" y="1618615"/>
                    <a:pt x="0" y="1455547"/>
                    <a:pt x="0" y="1253871"/>
                  </a:cubicBezTo>
                  <a:lnTo>
                    <a:pt x="0" y="364744"/>
                  </a:lnTo>
                  <a:lnTo>
                    <a:pt x="12700" y="364744"/>
                  </a:lnTo>
                  <a:lnTo>
                    <a:pt x="0" y="364744"/>
                  </a:lnTo>
                  <a:moveTo>
                    <a:pt x="25400" y="364744"/>
                  </a:moveTo>
                  <a:lnTo>
                    <a:pt x="25400" y="1253871"/>
                  </a:lnTo>
                  <a:lnTo>
                    <a:pt x="12700" y="1253871"/>
                  </a:lnTo>
                  <a:lnTo>
                    <a:pt x="25400" y="1253871"/>
                  </a:lnTo>
                  <a:cubicBezTo>
                    <a:pt x="25400" y="1441196"/>
                    <a:pt x="179324" y="1593215"/>
                    <a:pt x="369570" y="1593215"/>
                  </a:cubicBezTo>
                  <a:lnTo>
                    <a:pt x="10297668" y="1593215"/>
                  </a:lnTo>
                  <a:cubicBezTo>
                    <a:pt x="10487914" y="1593215"/>
                    <a:pt x="10641838" y="1441069"/>
                    <a:pt x="10641838" y="1253871"/>
                  </a:cubicBezTo>
                  <a:lnTo>
                    <a:pt x="10641838" y="364744"/>
                  </a:lnTo>
                  <a:cubicBezTo>
                    <a:pt x="10641838" y="177546"/>
                    <a:pt x="10487914" y="25400"/>
                    <a:pt x="10297668" y="25400"/>
                  </a:cubicBezTo>
                  <a:lnTo>
                    <a:pt x="369570" y="25400"/>
                  </a:lnTo>
                  <a:lnTo>
                    <a:pt x="369570" y="12700"/>
                  </a:lnTo>
                  <a:lnTo>
                    <a:pt x="369570" y="25400"/>
                  </a:lnTo>
                  <a:cubicBezTo>
                    <a:pt x="179324" y="25400"/>
                    <a:pt x="25400" y="177546"/>
                    <a:pt x="25400" y="364744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76127" y="5626362"/>
            <a:ext cx="3231805" cy="410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2775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Mid-Term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6127" y="6206389"/>
            <a:ext cx="8826727" cy="33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sz="1831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13–36 months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38361" y="7058723"/>
            <a:ext cx="9302257" cy="1411536"/>
            <a:chOff x="0" y="0"/>
            <a:chExt cx="10667207" cy="1618655"/>
          </a:xfrm>
        </p:grpSpPr>
        <p:sp>
          <p:nvSpPr>
            <p:cNvPr id="19" name="Freeform 19"/>
            <p:cNvSpPr/>
            <p:nvPr/>
          </p:nvSpPr>
          <p:spPr>
            <a:xfrm>
              <a:off x="12700" y="12700"/>
              <a:ext cx="10641838" cy="1593215"/>
            </a:xfrm>
            <a:custGeom>
              <a:avLst/>
              <a:gdLst/>
              <a:ahLst/>
              <a:cxnLst/>
              <a:rect l="l" t="t" r="r" b="b"/>
              <a:pathLst>
                <a:path w="10641838" h="1593215">
                  <a:moveTo>
                    <a:pt x="0" y="352044"/>
                  </a:moveTo>
                  <a:cubicBezTo>
                    <a:pt x="0" y="157607"/>
                    <a:pt x="159766" y="0"/>
                    <a:pt x="356870" y="0"/>
                  </a:cubicBezTo>
                  <a:lnTo>
                    <a:pt x="10284968" y="0"/>
                  </a:lnTo>
                  <a:cubicBezTo>
                    <a:pt x="10482073" y="0"/>
                    <a:pt x="10641838" y="157607"/>
                    <a:pt x="10641838" y="352044"/>
                  </a:cubicBezTo>
                  <a:lnTo>
                    <a:pt x="10641838" y="1241171"/>
                  </a:lnTo>
                  <a:cubicBezTo>
                    <a:pt x="10641838" y="1435608"/>
                    <a:pt x="10482073" y="1593215"/>
                    <a:pt x="10284968" y="1593215"/>
                  </a:cubicBezTo>
                  <a:lnTo>
                    <a:pt x="356870" y="1593215"/>
                  </a:lnTo>
                  <a:cubicBezTo>
                    <a:pt x="159766" y="1593215"/>
                    <a:pt x="0" y="1435608"/>
                    <a:pt x="0" y="12411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10667238" cy="1618615"/>
            </a:xfrm>
            <a:custGeom>
              <a:avLst/>
              <a:gdLst/>
              <a:ahLst/>
              <a:cxnLst/>
              <a:rect l="l" t="t" r="r" b="b"/>
              <a:pathLst>
                <a:path w="10667238" h="1618615">
                  <a:moveTo>
                    <a:pt x="0" y="364744"/>
                  </a:moveTo>
                  <a:cubicBezTo>
                    <a:pt x="0" y="163195"/>
                    <a:pt x="165608" y="0"/>
                    <a:pt x="369570" y="0"/>
                  </a:cubicBezTo>
                  <a:lnTo>
                    <a:pt x="10297668" y="0"/>
                  </a:lnTo>
                  <a:lnTo>
                    <a:pt x="10297668" y="12700"/>
                  </a:lnTo>
                  <a:lnTo>
                    <a:pt x="10297668" y="0"/>
                  </a:lnTo>
                  <a:cubicBezTo>
                    <a:pt x="10501630" y="0"/>
                    <a:pt x="10667238" y="163195"/>
                    <a:pt x="10667238" y="364744"/>
                  </a:cubicBezTo>
                  <a:lnTo>
                    <a:pt x="10654538" y="364744"/>
                  </a:lnTo>
                  <a:lnTo>
                    <a:pt x="10667238" y="364744"/>
                  </a:lnTo>
                  <a:lnTo>
                    <a:pt x="10667238" y="1253871"/>
                  </a:lnTo>
                  <a:lnTo>
                    <a:pt x="10654538" y="1253871"/>
                  </a:lnTo>
                  <a:lnTo>
                    <a:pt x="10667238" y="1253871"/>
                  </a:lnTo>
                  <a:cubicBezTo>
                    <a:pt x="10667238" y="1455547"/>
                    <a:pt x="10501630" y="1618615"/>
                    <a:pt x="10297668" y="1618615"/>
                  </a:cubicBezTo>
                  <a:lnTo>
                    <a:pt x="10297668" y="1605915"/>
                  </a:lnTo>
                  <a:lnTo>
                    <a:pt x="10297668" y="1618615"/>
                  </a:lnTo>
                  <a:lnTo>
                    <a:pt x="369570" y="1618615"/>
                  </a:lnTo>
                  <a:lnTo>
                    <a:pt x="369570" y="1605915"/>
                  </a:lnTo>
                  <a:lnTo>
                    <a:pt x="369570" y="1618615"/>
                  </a:lnTo>
                  <a:cubicBezTo>
                    <a:pt x="165608" y="1618615"/>
                    <a:pt x="0" y="1455547"/>
                    <a:pt x="0" y="1253871"/>
                  </a:cubicBezTo>
                  <a:lnTo>
                    <a:pt x="0" y="364744"/>
                  </a:lnTo>
                  <a:lnTo>
                    <a:pt x="12700" y="364744"/>
                  </a:lnTo>
                  <a:lnTo>
                    <a:pt x="0" y="364744"/>
                  </a:lnTo>
                  <a:moveTo>
                    <a:pt x="25400" y="364744"/>
                  </a:moveTo>
                  <a:lnTo>
                    <a:pt x="25400" y="1253871"/>
                  </a:lnTo>
                  <a:lnTo>
                    <a:pt x="12700" y="1253871"/>
                  </a:lnTo>
                  <a:lnTo>
                    <a:pt x="25400" y="1253871"/>
                  </a:lnTo>
                  <a:cubicBezTo>
                    <a:pt x="25400" y="1441196"/>
                    <a:pt x="179324" y="1593215"/>
                    <a:pt x="369570" y="1593215"/>
                  </a:cubicBezTo>
                  <a:lnTo>
                    <a:pt x="10297668" y="1593215"/>
                  </a:lnTo>
                  <a:cubicBezTo>
                    <a:pt x="10487914" y="1593215"/>
                    <a:pt x="10641838" y="1441069"/>
                    <a:pt x="10641838" y="1253871"/>
                  </a:cubicBezTo>
                  <a:lnTo>
                    <a:pt x="10641838" y="364744"/>
                  </a:lnTo>
                  <a:cubicBezTo>
                    <a:pt x="10641838" y="177546"/>
                    <a:pt x="10487914" y="25400"/>
                    <a:pt x="10297668" y="25400"/>
                  </a:cubicBezTo>
                  <a:lnTo>
                    <a:pt x="369570" y="25400"/>
                  </a:lnTo>
                  <a:lnTo>
                    <a:pt x="369570" y="12700"/>
                  </a:lnTo>
                  <a:lnTo>
                    <a:pt x="369570" y="25400"/>
                  </a:lnTo>
                  <a:cubicBezTo>
                    <a:pt x="179324" y="25400"/>
                    <a:pt x="25400" y="177546"/>
                    <a:pt x="25400" y="364744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76127" y="7220288"/>
            <a:ext cx="3231805" cy="410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2775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Long-Term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6127" y="7800316"/>
            <a:ext cx="8826727" cy="33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sz="1831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37+ months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561900" y="3775991"/>
            <a:ext cx="7567920" cy="4304149"/>
            <a:chOff x="0" y="0"/>
            <a:chExt cx="10090560" cy="5738865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10090531" cy="5738876"/>
            </a:xfrm>
            <a:custGeom>
              <a:avLst/>
              <a:gdLst/>
              <a:ahLst/>
              <a:cxnLst/>
              <a:rect l="l" t="t" r="r" b="b"/>
              <a:pathLst>
                <a:path w="10090531" h="5738876">
                  <a:moveTo>
                    <a:pt x="0" y="0"/>
                  </a:moveTo>
                  <a:lnTo>
                    <a:pt x="10090531" y="0"/>
                  </a:lnTo>
                  <a:lnTo>
                    <a:pt x="10090531" y="5738876"/>
                  </a:lnTo>
                  <a:lnTo>
                    <a:pt x="0" y="5738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" b="-6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47886" y="907256"/>
            <a:ext cx="10924729" cy="840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Advanced Analysis: Demographics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886" y="2377827"/>
            <a:ext cx="16392228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Churn rates were analyzed across various demographic and service-related factors.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7886" y="3115866"/>
            <a:ext cx="16392228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Customer Demographics: Gender, age groups, senior citizen status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886" y="3643907"/>
            <a:ext cx="16392228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Tenure Insights: Distribution of customer lifecycles (short, medium, long-term)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886" y="4171950"/>
            <a:ext cx="16392228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Revenue Drivers: Monthly and total charges trends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886" y="4699992"/>
            <a:ext cx="16392228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Churn Profile: Churn rate across segments and service types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57411" y="5517059"/>
            <a:ext cx="5289798" cy="3452961"/>
            <a:chOff x="0" y="0"/>
            <a:chExt cx="7053063" cy="4603948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7053072" cy="4604004"/>
            </a:xfrm>
            <a:custGeom>
              <a:avLst/>
              <a:gdLst/>
              <a:ahLst/>
              <a:cxnLst/>
              <a:rect l="l" t="t" r="r" b="b"/>
              <a:pathLst>
                <a:path w="7053072" h="4604004">
                  <a:moveTo>
                    <a:pt x="0" y="0"/>
                  </a:moveTo>
                  <a:lnTo>
                    <a:pt x="7053072" y="0"/>
                  </a:lnTo>
                  <a:lnTo>
                    <a:pt x="7053072" y="4604004"/>
                  </a:lnTo>
                  <a:lnTo>
                    <a:pt x="0" y="4604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9" b="-98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3754" y="5517059"/>
            <a:ext cx="5325219" cy="3452961"/>
            <a:chOff x="0" y="0"/>
            <a:chExt cx="7100292" cy="4603948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7100316" cy="4604004"/>
            </a:xfrm>
            <a:custGeom>
              <a:avLst/>
              <a:gdLst/>
              <a:ahLst/>
              <a:cxnLst/>
              <a:rect l="l" t="t" r="r" b="b"/>
              <a:pathLst>
                <a:path w="7100316" h="4604004">
                  <a:moveTo>
                    <a:pt x="0" y="0"/>
                  </a:moveTo>
                  <a:lnTo>
                    <a:pt x="7100316" y="0"/>
                  </a:lnTo>
                  <a:lnTo>
                    <a:pt x="7100316" y="4604004"/>
                  </a:lnTo>
                  <a:lnTo>
                    <a:pt x="0" y="4604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" b="-72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005519" y="5517059"/>
            <a:ext cx="5325219" cy="3452961"/>
            <a:chOff x="0" y="0"/>
            <a:chExt cx="7100292" cy="4603948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7100316" cy="4604004"/>
            </a:xfrm>
            <a:custGeom>
              <a:avLst/>
              <a:gdLst/>
              <a:ahLst/>
              <a:cxnLst/>
              <a:rect l="l" t="t" r="r" b="b"/>
              <a:pathLst>
                <a:path w="7100316" h="4604004">
                  <a:moveTo>
                    <a:pt x="0" y="0"/>
                  </a:moveTo>
                  <a:lnTo>
                    <a:pt x="7100316" y="0"/>
                  </a:lnTo>
                  <a:lnTo>
                    <a:pt x="7100316" y="4604004"/>
                  </a:lnTo>
                  <a:lnTo>
                    <a:pt x="0" y="4604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3" b="-72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47886" y="775097"/>
            <a:ext cx="11268521" cy="710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Advanced Analysis: Spending &amp; Contracts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886" y="2002036"/>
            <a:ext cx="16392228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Contract types and monthly charges significantly impact churn.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7886" y="2907060"/>
            <a:ext cx="3028950" cy="350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Contract Influence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886" y="3467992"/>
            <a:ext cx="7915275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Compared churn across different contract types.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886" y="3916859"/>
            <a:ext cx="7915275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Identified contracts with higher churn rates.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47886" y="4648944"/>
            <a:ext cx="6727924" cy="4489698"/>
            <a:chOff x="0" y="0"/>
            <a:chExt cx="8970565" cy="5986263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8970518" cy="5986272"/>
            </a:xfrm>
            <a:custGeom>
              <a:avLst/>
              <a:gdLst/>
              <a:ahLst/>
              <a:cxnLst/>
              <a:rect l="l" t="t" r="r" b="b"/>
              <a:pathLst>
                <a:path w="8970518" h="5986272">
                  <a:moveTo>
                    <a:pt x="0" y="0"/>
                  </a:moveTo>
                  <a:lnTo>
                    <a:pt x="8970518" y="0"/>
                  </a:lnTo>
                  <a:lnTo>
                    <a:pt x="8970518" y="5986272"/>
                  </a:lnTo>
                  <a:lnTo>
                    <a:pt x="0" y="5986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" r="-14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434364" y="2907060"/>
            <a:ext cx="3028950" cy="350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Spending Sensitivity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4364" y="3467992"/>
            <a:ext cx="7915275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Analyzed churn based on monthly charges.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4364" y="3916859"/>
            <a:ext cx="7915275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Boxplots illustrate charge distribution vs. churn.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34364" y="4648944"/>
            <a:ext cx="6727924" cy="4489698"/>
            <a:chOff x="0" y="0"/>
            <a:chExt cx="8970565" cy="5986263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8970518" cy="5986272"/>
            </a:xfrm>
            <a:custGeom>
              <a:avLst/>
              <a:gdLst/>
              <a:ahLst/>
              <a:cxnLst/>
              <a:rect l="l" t="t" r="r" b="b"/>
              <a:pathLst>
                <a:path w="8970518" h="5986272">
                  <a:moveTo>
                    <a:pt x="0" y="0"/>
                  </a:moveTo>
                  <a:lnTo>
                    <a:pt x="8970518" y="0"/>
                  </a:lnTo>
                  <a:lnTo>
                    <a:pt x="8970518" y="5986272"/>
                  </a:lnTo>
                  <a:lnTo>
                    <a:pt x="0" y="5986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r="-14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087100" y="0"/>
            <a:ext cx="7200900" cy="10287000"/>
            <a:chOff x="0" y="0"/>
            <a:chExt cx="96012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47886" y="981967"/>
            <a:ext cx="5449640" cy="5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1">
                <a:solidFill>
                  <a:srgbClr val="2E3C4E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Customer Churn Insights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886" y="1908870"/>
            <a:ext cx="9534228" cy="581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Leveraging data analytics to uncover critical customer behaviors, quantify retention performance, and formulate targeted strategies to reduce churn.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38361" y="2804964"/>
            <a:ext cx="4691360" cy="3420516"/>
            <a:chOff x="0" y="0"/>
            <a:chExt cx="6255147" cy="4560688"/>
          </a:xfrm>
        </p:grpSpPr>
        <p:sp>
          <p:nvSpPr>
            <p:cNvPr id="13" name="Freeform 13"/>
            <p:cNvSpPr/>
            <p:nvPr/>
          </p:nvSpPr>
          <p:spPr>
            <a:xfrm>
              <a:off x="12700" y="12700"/>
              <a:ext cx="6229604" cy="4535297"/>
            </a:xfrm>
            <a:custGeom>
              <a:avLst/>
              <a:gdLst/>
              <a:ahLst/>
              <a:cxnLst/>
              <a:rect l="l" t="t" r="r" b="b"/>
              <a:pathLst>
                <a:path w="6229604" h="4535297">
                  <a:moveTo>
                    <a:pt x="0" y="121920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6107557" y="0"/>
                  </a:lnTo>
                  <a:cubicBezTo>
                    <a:pt x="6174994" y="0"/>
                    <a:pt x="6229604" y="54610"/>
                    <a:pt x="6229604" y="121920"/>
                  </a:cubicBezTo>
                  <a:lnTo>
                    <a:pt x="6229604" y="4413377"/>
                  </a:lnTo>
                  <a:cubicBezTo>
                    <a:pt x="6229604" y="4480687"/>
                    <a:pt x="6174994" y="4535297"/>
                    <a:pt x="6107557" y="4535297"/>
                  </a:cubicBezTo>
                  <a:lnTo>
                    <a:pt x="122047" y="4535297"/>
                  </a:lnTo>
                  <a:cubicBezTo>
                    <a:pt x="54610" y="4535297"/>
                    <a:pt x="0" y="4480687"/>
                    <a:pt x="0" y="441337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255004" cy="4560697"/>
            </a:xfrm>
            <a:custGeom>
              <a:avLst/>
              <a:gdLst/>
              <a:ahLst/>
              <a:cxnLst/>
              <a:rect l="l" t="t" r="r" b="b"/>
              <a:pathLst>
                <a:path w="6255004" h="4560697">
                  <a:moveTo>
                    <a:pt x="0" y="134620"/>
                  </a:moveTo>
                  <a:cubicBezTo>
                    <a:pt x="0" y="60198"/>
                    <a:pt x="60325" y="0"/>
                    <a:pt x="134747" y="0"/>
                  </a:cubicBezTo>
                  <a:lnTo>
                    <a:pt x="6120257" y="0"/>
                  </a:lnTo>
                  <a:lnTo>
                    <a:pt x="6120257" y="12700"/>
                  </a:lnTo>
                  <a:lnTo>
                    <a:pt x="6120257" y="0"/>
                  </a:lnTo>
                  <a:cubicBezTo>
                    <a:pt x="6194679" y="0"/>
                    <a:pt x="6255004" y="60198"/>
                    <a:pt x="6255004" y="134620"/>
                  </a:cubicBezTo>
                  <a:lnTo>
                    <a:pt x="6242304" y="134620"/>
                  </a:lnTo>
                  <a:lnTo>
                    <a:pt x="6255004" y="134620"/>
                  </a:lnTo>
                  <a:lnTo>
                    <a:pt x="6255004" y="4426077"/>
                  </a:lnTo>
                  <a:lnTo>
                    <a:pt x="6242304" y="4426077"/>
                  </a:lnTo>
                  <a:lnTo>
                    <a:pt x="6255004" y="4426077"/>
                  </a:lnTo>
                  <a:cubicBezTo>
                    <a:pt x="6255004" y="4500499"/>
                    <a:pt x="6194679" y="4560697"/>
                    <a:pt x="6120257" y="4560697"/>
                  </a:cubicBezTo>
                  <a:lnTo>
                    <a:pt x="6120257" y="4547997"/>
                  </a:lnTo>
                  <a:lnTo>
                    <a:pt x="6120257" y="4560697"/>
                  </a:lnTo>
                  <a:lnTo>
                    <a:pt x="134747" y="4560697"/>
                  </a:lnTo>
                  <a:lnTo>
                    <a:pt x="134747" y="4547997"/>
                  </a:lnTo>
                  <a:lnTo>
                    <a:pt x="134747" y="4560697"/>
                  </a:lnTo>
                  <a:cubicBezTo>
                    <a:pt x="60325" y="4560697"/>
                    <a:pt x="0" y="4500499"/>
                    <a:pt x="0" y="4426077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4426077"/>
                  </a:lnTo>
                  <a:lnTo>
                    <a:pt x="12700" y="4426077"/>
                  </a:lnTo>
                  <a:lnTo>
                    <a:pt x="25400" y="4426077"/>
                  </a:lnTo>
                  <a:cubicBezTo>
                    <a:pt x="25400" y="4486402"/>
                    <a:pt x="74422" y="4535297"/>
                    <a:pt x="134747" y="4535297"/>
                  </a:cubicBezTo>
                  <a:lnTo>
                    <a:pt x="6120257" y="4535297"/>
                  </a:lnTo>
                  <a:cubicBezTo>
                    <a:pt x="6180709" y="4535297"/>
                    <a:pt x="6229604" y="4486402"/>
                    <a:pt x="6229604" y="4426077"/>
                  </a:cubicBezTo>
                  <a:lnTo>
                    <a:pt x="6229604" y="134620"/>
                  </a:lnTo>
                  <a:cubicBezTo>
                    <a:pt x="6229604" y="74295"/>
                    <a:pt x="6180582" y="25400"/>
                    <a:pt x="6120257" y="25400"/>
                  </a:cubicBezTo>
                  <a:lnTo>
                    <a:pt x="134747" y="25400"/>
                  </a:lnTo>
                  <a:lnTo>
                    <a:pt x="134747" y="12700"/>
                  </a:lnTo>
                  <a:lnTo>
                    <a:pt x="134747" y="25400"/>
                  </a:lnTo>
                  <a:cubicBezTo>
                    <a:pt x="74422" y="25400"/>
                    <a:pt x="25400" y="74295"/>
                    <a:pt x="25400" y="134620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8836" y="2814489"/>
            <a:ext cx="76200" cy="3401466"/>
            <a:chOff x="0" y="0"/>
            <a:chExt cx="101600" cy="4535288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01600" cy="4535297"/>
            </a:xfrm>
            <a:custGeom>
              <a:avLst/>
              <a:gdLst/>
              <a:ahLst/>
              <a:cxnLst/>
              <a:rect l="l" t="t" r="r" b="b"/>
              <a:pathLst>
                <a:path w="101600" h="4535297">
                  <a:moveTo>
                    <a:pt x="0" y="0"/>
                  </a:moveTo>
                  <a:lnTo>
                    <a:pt x="101600" y="0"/>
                  </a:lnTo>
                  <a:lnTo>
                    <a:pt x="101600" y="4535297"/>
                  </a:lnTo>
                  <a:lnTo>
                    <a:pt x="0" y="4535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" r="-15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13545" y="2965848"/>
            <a:ext cx="2757636" cy="28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Customer Base Overview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3545" y="3362771"/>
            <a:ext cx="4198144" cy="581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Churn Rate:</a:t>
            </a: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 26.5% overall (1,869 churned out of 7,043 customers).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3545" y="4035624"/>
            <a:ext cx="4198144" cy="889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Revenue Distribution:</a:t>
            </a: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 Majority of customers contribute low revenue, while a small high-value segment drives disproportionate revenue impact.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3545" y="5315099"/>
            <a:ext cx="4198144" cy="581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Customer Support:</a:t>
            </a: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 Slow response times and unresolved issues.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800130" y="2804964"/>
            <a:ext cx="4691509" cy="3420516"/>
            <a:chOff x="0" y="0"/>
            <a:chExt cx="6255345" cy="4560688"/>
          </a:xfrm>
        </p:grpSpPr>
        <p:sp>
          <p:nvSpPr>
            <p:cNvPr id="22" name="Freeform 22"/>
            <p:cNvSpPr/>
            <p:nvPr/>
          </p:nvSpPr>
          <p:spPr>
            <a:xfrm>
              <a:off x="12700" y="12700"/>
              <a:ext cx="6229858" cy="4535297"/>
            </a:xfrm>
            <a:custGeom>
              <a:avLst/>
              <a:gdLst/>
              <a:ahLst/>
              <a:cxnLst/>
              <a:rect l="l" t="t" r="r" b="b"/>
              <a:pathLst>
                <a:path w="6229858" h="4535297">
                  <a:moveTo>
                    <a:pt x="0" y="121920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6107811" y="0"/>
                  </a:lnTo>
                  <a:cubicBezTo>
                    <a:pt x="6175248" y="0"/>
                    <a:pt x="6229858" y="54610"/>
                    <a:pt x="6229858" y="121920"/>
                  </a:cubicBezTo>
                  <a:lnTo>
                    <a:pt x="6229858" y="4413377"/>
                  </a:lnTo>
                  <a:cubicBezTo>
                    <a:pt x="6229858" y="4480687"/>
                    <a:pt x="6175248" y="4535297"/>
                    <a:pt x="6107811" y="4535297"/>
                  </a:cubicBezTo>
                  <a:lnTo>
                    <a:pt x="122047" y="4535297"/>
                  </a:lnTo>
                  <a:cubicBezTo>
                    <a:pt x="54610" y="4535297"/>
                    <a:pt x="0" y="4480687"/>
                    <a:pt x="0" y="441337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6255258" cy="4560697"/>
            </a:xfrm>
            <a:custGeom>
              <a:avLst/>
              <a:gdLst/>
              <a:ahLst/>
              <a:cxnLst/>
              <a:rect l="l" t="t" r="r" b="b"/>
              <a:pathLst>
                <a:path w="6255258" h="4560697">
                  <a:moveTo>
                    <a:pt x="0" y="134620"/>
                  </a:moveTo>
                  <a:cubicBezTo>
                    <a:pt x="0" y="60198"/>
                    <a:pt x="60325" y="0"/>
                    <a:pt x="134747" y="0"/>
                  </a:cubicBezTo>
                  <a:lnTo>
                    <a:pt x="6120511" y="0"/>
                  </a:lnTo>
                  <a:lnTo>
                    <a:pt x="6120511" y="12700"/>
                  </a:lnTo>
                  <a:lnTo>
                    <a:pt x="6120511" y="0"/>
                  </a:lnTo>
                  <a:cubicBezTo>
                    <a:pt x="6194933" y="0"/>
                    <a:pt x="6255258" y="60198"/>
                    <a:pt x="6255258" y="134620"/>
                  </a:cubicBezTo>
                  <a:lnTo>
                    <a:pt x="6242558" y="134620"/>
                  </a:lnTo>
                  <a:lnTo>
                    <a:pt x="6255258" y="134620"/>
                  </a:lnTo>
                  <a:lnTo>
                    <a:pt x="6255258" y="4426077"/>
                  </a:lnTo>
                  <a:lnTo>
                    <a:pt x="6242558" y="4426077"/>
                  </a:lnTo>
                  <a:lnTo>
                    <a:pt x="6255258" y="4426077"/>
                  </a:lnTo>
                  <a:cubicBezTo>
                    <a:pt x="6255258" y="4500499"/>
                    <a:pt x="6194933" y="4560697"/>
                    <a:pt x="6120511" y="4560697"/>
                  </a:cubicBezTo>
                  <a:lnTo>
                    <a:pt x="6120511" y="4547997"/>
                  </a:lnTo>
                  <a:lnTo>
                    <a:pt x="6120511" y="4560697"/>
                  </a:lnTo>
                  <a:lnTo>
                    <a:pt x="134747" y="4560697"/>
                  </a:lnTo>
                  <a:lnTo>
                    <a:pt x="134747" y="4547997"/>
                  </a:lnTo>
                  <a:lnTo>
                    <a:pt x="134747" y="4560697"/>
                  </a:lnTo>
                  <a:cubicBezTo>
                    <a:pt x="60325" y="4560697"/>
                    <a:pt x="0" y="4500499"/>
                    <a:pt x="0" y="4426077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4426077"/>
                  </a:lnTo>
                  <a:lnTo>
                    <a:pt x="12700" y="4426077"/>
                  </a:lnTo>
                  <a:lnTo>
                    <a:pt x="25400" y="4426077"/>
                  </a:lnTo>
                  <a:cubicBezTo>
                    <a:pt x="25400" y="4486402"/>
                    <a:pt x="74422" y="4535297"/>
                    <a:pt x="134747" y="4535297"/>
                  </a:cubicBezTo>
                  <a:lnTo>
                    <a:pt x="6120511" y="4535297"/>
                  </a:lnTo>
                  <a:cubicBezTo>
                    <a:pt x="6180963" y="4535297"/>
                    <a:pt x="6229858" y="4486402"/>
                    <a:pt x="6229858" y="4426077"/>
                  </a:cubicBezTo>
                  <a:lnTo>
                    <a:pt x="6229858" y="134620"/>
                  </a:lnTo>
                  <a:cubicBezTo>
                    <a:pt x="6229858" y="74295"/>
                    <a:pt x="6180836" y="25400"/>
                    <a:pt x="6120511" y="25400"/>
                  </a:cubicBezTo>
                  <a:lnTo>
                    <a:pt x="134747" y="25400"/>
                  </a:lnTo>
                  <a:lnTo>
                    <a:pt x="134747" y="12700"/>
                  </a:lnTo>
                  <a:lnTo>
                    <a:pt x="134747" y="25400"/>
                  </a:lnTo>
                  <a:cubicBezTo>
                    <a:pt x="74422" y="25400"/>
                    <a:pt x="25400" y="74295"/>
                    <a:pt x="25400" y="134620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90605" y="2814489"/>
            <a:ext cx="76200" cy="3401466"/>
            <a:chOff x="0" y="0"/>
            <a:chExt cx="101600" cy="4535288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101600" cy="4535297"/>
            </a:xfrm>
            <a:custGeom>
              <a:avLst/>
              <a:gdLst/>
              <a:ahLst/>
              <a:cxnLst/>
              <a:rect l="l" t="t" r="r" b="b"/>
              <a:pathLst>
                <a:path w="101600" h="4535297">
                  <a:moveTo>
                    <a:pt x="0" y="0"/>
                  </a:moveTo>
                  <a:lnTo>
                    <a:pt x="101600" y="0"/>
                  </a:lnTo>
                  <a:lnTo>
                    <a:pt x="101600" y="4535297"/>
                  </a:lnTo>
                  <a:lnTo>
                    <a:pt x="0" y="4535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" r="-15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075312" y="2965848"/>
            <a:ext cx="2494359" cy="28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Key Churn Patterns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75312" y="3362771"/>
            <a:ext cx="4198292" cy="581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New customer vulnerability:</a:t>
            </a: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 40–60% churn in first 10 months, stabilizing after 20+ months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75312" y="4338935"/>
            <a:ext cx="4198292" cy="581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Service gaps:</a:t>
            </a: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 Customers lacking device protection show </a:t>
            </a:r>
            <a:r>
              <a:rPr lang="en-US" sz="14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78% higher churn rates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75312" y="5011787"/>
            <a:ext cx="4198292" cy="581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Technology impact:</a:t>
            </a: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 Fiber customers demonstrate elevated churn compared to DSL users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38361" y="6395889"/>
            <a:ext cx="4691360" cy="2813894"/>
            <a:chOff x="0" y="0"/>
            <a:chExt cx="6255147" cy="3751858"/>
          </a:xfrm>
        </p:grpSpPr>
        <p:sp>
          <p:nvSpPr>
            <p:cNvPr id="31" name="Freeform 31"/>
            <p:cNvSpPr/>
            <p:nvPr/>
          </p:nvSpPr>
          <p:spPr>
            <a:xfrm>
              <a:off x="12700" y="12700"/>
              <a:ext cx="6229731" cy="3726434"/>
            </a:xfrm>
            <a:custGeom>
              <a:avLst/>
              <a:gdLst/>
              <a:ahLst/>
              <a:cxnLst/>
              <a:rect l="l" t="t" r="r" b="b"/>
              <a:pathLst>
                <a:path w="6229731" h="3726434">
                  <a:moveTo>
                    <a:pt x="0" y="121920"/>
                  </a:moveTo>
                  <a:cubicBezTo>
                    <a:pt x="0" y="54610"/>
                    <a:pt x="54737" y="0"/>
                    <a:pt x="122301" y="0"/>
                  </a:cubicBezTo>
                  <a:lnTo>
                    <a:pt x="6107430" y="0"/>
                  </a:lnTo>
                  <a:cubicBezTo>
                    <a:pt x="6174994" y="0"/>
                    <a:pt x="6229731" y="54610"/>
                    <a:pt x="6229731" y="121920"/>
                  </a:cubicBezTo>
                  <a:lnTo>
                    <a:pt x="6229731" y="3604514"/>
                  </a:lnTo>
                  <a:cubicBezTo>
                    <a:pt x="6229731" y="3671824"/>
                    <a:pt x="6174994" y="3726434"/>
                    <a:pt x="6107430" y="3726434"/>
                  </a:cubicBezTo>
                  <a:lnTo>
                    <a:pt x="122301" y="3726434"/>
                  </a:lnTo>
                  <a:cubicBezTo>
                    <a:pt x="54737" y="3726434"/>
                    <a:pt x="0" y="3671824"/>
                    <a:pt x="0" y="360451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6255131" cy="3751834"/>
            </a:xfrm>
            <a:custGeom>
              <a:avLst/>
              <a:gdLst/>
              <a:ahLst/>
              <a:cxnLst/>
              <a:rect l="l" t="t" r="r" b="b"/>
              <a:pathLst>
                <a:path w="6255131" h="3751834">
                  <a:moveTo>
                    <a:pt x="0" y="134620"/>
                  </a:moveTo>
                  <a:cubicBezTo>
                    <a:pt x="0" y="60198"/>
                    <a:pt x="60452" y="0"/>
                    <a:pt x="135001" y="0"/>
                  </a:cubicBezTo>
                  <a:lnTo>
                    <a:pt x="6120130" y="0"/>
                  </a:lnTo>
                  <a:lnTo>
                    <a:pt x="6120130" y="12700"/>
                  </a:lnTo>
                  <a:lnTo>
                    <a:pt x="6120130" y="0"/>
                  </a:lnTo>
                  <a:cubicBezTo>
                    <a:pt x="6194679" y="0"/>
                    <a:pt x="6255131" y="60198"/>
                    <a:pt x="6255131" y="134620"/>
                  </a:cubicBezTo>
                  <a:lnTo>
                    <a:pt x="6242431" y="134620"/>
                  </a:lnTo>
                  <a:lnTo>
                    <a:pt x="6255131" y="134620"/>
                  </a:lnTo>
                  <a:lnTo>
                    <a:pt x="6255131" y="3617214"/>
                  </a:lnTo>
                  <a:lnTo>
                    <a:pt x="6242431" y="3617214"/>
                  </a:lnTo>
                  <a:lnTo>
                    <a:pt x="6255131" y="3617214"/>
                  </a:lnTo>
                  <a:cubicBezTo>
                    <a:pt x="6255131" y="3691636"/>
                    <a:pt x="6194679" y="3751834"/>
                    <a:pt x="6120130" y="3751834"/>
                  </a:cubicBezTo>
                  <a:lnTo>
                    <a:pt x="6120130" y="3739134"/>
                  </a:lnTo>
                  <a:lnTo>
                    <a:pt x="6120130" y="3751834"/>
                  </a:lnTo>
                  <a:lnTo>
                    <a:pt x="135001" y="3751834"/>
                  </a:lnTo>
                  <a:lnTo>
                    <a:pt x="135001" y="3739134"/>
                  </a:lnTo>
                  <a:lnTo>
                    <a:pt x="135001" y="3751834"/>
                  </a:lnTo>
                  <a:cubicBezTo>
                    <a:pt x="60452" y="3751834"/>
                    <a:pt x="0" y="3691636"/>
                    <a:pt x="0" y="3617214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3617214"/>
                  </a:lnTo>
                  <a:lnTo>
                    <a:pt x="12700" y="3617214"/>
                  </a:lnTo>
                  <a:lnTo>
                    <a:pt x="25400" y="3617214"/>
                  </a:lnTo>
                  <a:cubicBezTo>
                    <a:pt x="25400" y="3677539"/>
                    <a:pt x="74422" y="3726434"/>
                    <a:pt x="135001" y="3726434"/>
                  </a:cubicBezTo>
                  <a:lnTo>
                    <a:pt x="6120130" y="3726434"/>
                  </a:lnTo>
                  <a:cubicBezTo>
                    <a:pt x="6180709" y="3726434"/>
                    <a:pt x="6229731" y="3677539"/>
                    <a:pt x="6229731" y="3617214"/>
                  </a:cubicBezTo>
                  <a:lnTo>
                    <a:pt x="6229731" y="134620"/>
                  </a:lnTo>
                  <a:cubicBezTo>
                    <a:pt x="6229731" y="74295"/>
                    <a:pt x="6180709" y="25400"/>
                    <a:pt x="6120130" y="25400"/>
                  </a:cubicBezTo>
                  <a:lnTo>
                    <a:pt x="135001" y="25400"/>
                  </a:lnTo>
                  <a:lnTo>
                    <a:pt x="135001" y="12700"/>
                  </a:lnTo>
                  <a:lnTo>
                    <a:pt x="135001" y="25400"/>
                  </a:lnTo>
                  <a:cubicBezTo>
                    <a:pt x="74422" y="25400"/>
                    <a:pt x="25400" y="74295"/>
                    <a:pt x="25400" y="134620"/>
                  </a:cubicBezTo>
                  <a:close/>
                </a:path>
              </a:pathLst>
            </a:custGeom>
            <a:solidFill>
              <a:srgbClr val="BACFDD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28836" y="6405414"/>
            <a:ext cx="76200" cy="2794844"/>
            <a:chOff x="0" y="0"/>
            <a:chExt cx="101600" cy="3726458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101600" cy="3726434"/>
            </a:xfrm>
            <a:custGeom>
              <a:avLst/>
              <a:gdLst/>
              <a:ahLst/>
              <a:cxnLst/>
              <a:rect l="l" t="t" r="r" b="b"/>
              <a:pathLst>
                <a:path w="101600" h="3726434">
                  <a:moveTo>
                    <a:pt x="0" y="0"/>
                  </a:moveTo>
                  <a:lnTo>
                    <a:pt x="101600" y="0"/>
                  </a:lnTo>
                  <a:lnTo>
                    <a:pt x="101600" y="3726434"/>
                  </a:lnTo>
                  <a:lnTo>
                    <a:pt x="0" y="3726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1" r="-71"/>
              </a:stretch>
            </a:blip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13545" y="6556773"/>
            <a:ext cx="2494359" cy="28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Revenue Insights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13545" y="6953696"/>
            <a:ext cx="4198144" cy="274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Monthly charges range </a:t>
            </a:r>
            <a:r>
              <a:rPr lang="en-US" sz="14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$18–120</a:t>
            </a: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; median </a:t>
            </a:r>
            <a:r>
              <a:rPr lang="en-US" sz="14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$65–70</a:t>
            </a: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13545" y="7626549"/>
            <a:ext cx="4198144" cy="581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Lifetime revenue is </a:t>
            </a:r>
            <a:r>
              <a:rPr lang="en-US" sz="14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extremely right-skewed</a:t>
            </a: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 (majority low, few high).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13545" y="8299400"/>
            <a:ext cx="4198144" cy="581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Top 1% customers generate </a:t>
            </a:r>
            <a:r>
              <a:rPr lang="en-US" sz="1437" b="1">
                <a:solidFill>
                  <a:srgbClr val="384653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~$8,000+ total charges</a:t>
            </a:r>
            <a:r>
              <a:rPr lang="en-US" sz="1437">
                <a:solidFill>
                  <a:srgbClr val="384653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, crucial to overall revenue.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468</Words>
  <Application>Microsoft Office PowerPoint</Application>
  <PresentationFormat>Custom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Times New Roman MT Bold</vt:lpstr>
      <vt:lpstr>Times New Roman MT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cp:lastModifiedBy>khalid abdelrazk</cp:lastModifiedBy>
  <cp:revision>2</cp:revision>
  <dcterms:created xsi:type="dcterms:W3CDTF">2006-08-16T00:00:00Z</dcterms:created>
  <dcterms:modified xsi:type="dcterms:W3CDTF">2025-09-27T00:48:35Z</dcterms:modified>
  <dc:identifier>DAG0H4Mf_3Q</dc:identifier>
</cp:coreProperties>
</file>